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c4a03344be45d8" /><Relationship Type="http://schemas.openxmlformats.org/officeDocument/2006/relationships/extended-properties" Target="/docProps/app.xml" Id="Rac24f0c315334c2c" /><Relationship Type="http://schemas.openxmlformats.org/officeDocument/2006/relationships/officeDocument" Target="/ppt/presentation.xml" Id="R62ab170ce1f849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b728e2f3548dc"/>
  </p:sldMasterIdLst>
  <p:notesMasterIdLst>
    <p:notesMasterId xmlns:r="http://schemas.openxmlformats.org/officeDocument/2006/relationships" r:id="R8d62649f4bf34494"/>
  </p:notesMasterIdLst>
  <p:sldIdLst>
    <p:sldId xmlns:r="http://schemas.openxmlformats.org/officeDocument/2006/relationships" id="256" r:id="Ra0940897479b4a4b"/>
    <p:sldId xmlns:r="http://schemas.openxmlformats.org/officeDocument/2006/relationships" id="257" r:id="R918f8b765577407f"/>
    <p:sldId xmlns:r="http://schemas.openxmlformats.org/officeDocument/2006/relationships" id="258" r:id="R16dce74b33424c11"/>
    <p:sldId xmlns:r="http://schemas.openxmlformats.org/officeDocument/2006/relationships" id="259" r:id="Rb990d62b7cb74228"/>
    <p:sldId xmlns:r="http://schemas.openxmlformats.org/officeDocument/2006/relationships" id="260" r:id="R29ec7cba50d8471a"/>
    <p:sldId xmlns:r="http://schemas.openxmlformats.org/officeDocument/2006/relationships" id="261" r:id="R8dda09b4437f4eac"/>
    <p:sldId xmlns:r="http://schemas.openxmlformats.org/officeDocument/2006/relationships" id="262" r:id="Rfbe57ea2e8ee41e3"/>
    <p:sldId xmlns:r="http://schemas.openxmlformats.org/officeDocument/2006/relationships" id="263" r:id="R2be418cec87e48b5"/>
    <p:sldId xmlns:r="http://schemas.openxmlformats.org/officeDocument/2006/relationships" id="264" r:id="R94611135fd2a452e"/>
    <p:sldId xmlns:r="http://schemas.openxmlformats.org/officeDocument/2006/relationships" id="265" r:id="R0d474f8a82f741c2"/>
    <p:sldId xmlns:r="http://schemas.openxmlformats.org/officeDocument/2006/relationships" id="266" r:id="R115312354dce4f99"/>
    <p:sldId xmlns:r="http://schemas.openxmlformats.org/officeDocument/2006/relationships" id="267" r:id="R1af393fd3ab64423"/>
    <p:sldId xmlns:r="http://schemas.openxmlformats.org/officeDocument/2006/relationships" id="268" r:id="Ra445b9047e1943c6"/>
    <p:sldId xmlns:r="http://schemas.openxmlformats.org/officeDocument/2006/relationships" id="269" r:id="R65edeb168eb24d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3ea53642124401" /><Relationship Type="http://schemas.openxmlformats.org/officeDocument/2006/relationships/slideMaster" Target="/ppt/slideMasters/slideMaster1.xml" Id="Rd5cb728e2f3548dc" /><Relationship Type="http://schemas.openxmlformats.org/officeDocument/2006/relationships/notesMaster" Target="/ppt/notesMasters/notesMaster1.xml" Id="R8d62649f4bf34494" /><Relationship Type="http://schemas.openxmlformats.org/officeDocument/2006/relationships/presProps" Target="/ppt/presProps.xml" Id="R8db6de5974d843d6" /><Relationship Type="http://schemas.openxmlformats.org/officeDocument/2006/relationships/tableStyles" Target="/ppt/tableStyles.xml" Id="Refa05dd3e2104c8c" /><Relationship Type="http://schemas.openxmlformats.org/officeDocument/2006/relationships/slide" Target="/ppt/slides/slide1.xml" Id="Ra0940897479b4a4b" /><Relationship Type="http://schemas.openxmlformats.org/officeDocument/2006/relationships/slide" Target="/ppt/slides/slide2.xml" Id="R918f8b765577407f" /><Relationship Type="http://schemas.openxmlformats.org/officeDocument/2006/relationships/slide" Target="/ppt/slides/slide3.xml" Id="R16dce74b33424c11" /><Relationship Type="http://schemas.openxmlformats.org/officeDocument/2006/relationships/slide" Target="/ppt/slides/slide4.xml" Id="Rb990d62b7cb74228" /><Relationship Type="http://schemas.openxmlformats.org/officeDocument/2006/relationships/slide" Target="/ppt/slides/slide5.xml" Id="R29ec7cba50d8471a" /><Relationship Type="http://schemas.openxmlformats.org/officeDocument/2006/relationships/slide" Target="/ppt/slides/slide6.xml" Id="R8dda09b4437f4eac" /><Relationship Type="http://schemas.openxmlformats.org/officeDocument/2006/relationships/slide" Target="/ppt/slides/slide7.xml" Id="Rfbe57ea2e8ee41e3" /><Relationship Type="http://schemas.openxmlformats.org/officeDocument/2006/relationships/slide" Target="/ppt/slides/slide8.xml" Id="R2be418cec87e48b5" /><Relationship Type="http://schemas.openxmlformats.org/officeDocument/2006/relationships/slide" Target="/ppt/slides/slide9.xml" Id="R94611135fd2a452e" /><Relationship Type="http://schemas.openxmlformats.org/officeDocument/2006/relationships/slide" Target="/ppt/slides/slide10.xml" Id="R0d474f8a82f741c2" /><Relationship Type="http://schemas.openxmlformats.org/officeDocument/2006/relationships/slide" Target="/ppt/slides/slide11.xml" Id="R115312354dce4f99" /><Relationship Type="http://schemas.openxmlformats.org/officeDocument/2006/relationships/slide" Target="/ppt/slides/slide12.xml" Id="R1af393fd3ab64423" /><Relationship Type="http://schemas.openxmlformats.org/officeDocument/2006/relationships/slide" Target="/ppt/slides/slide13.xml" Id="Ra445b9047e1943c6" /><Relationship Type="http://schemas.openxmlformats.org/officeDocument/2006/relationships/slide" Target="/ppt/slides/slide14.xml" Id="R65edeb168eb24d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8276668c074e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e709ebd87e4651" /><Relationship Type="http://schemas.openxmlformats.org/officeDocument/2006/relationships/notesMaster" Target="/ppt/notesMasters/notesMaster1.xml" Id="R001c0275b8e549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dc7fd248f14048" /><Relationship Type="http://schemas.openxmlformats.org/officeDocument/2006/relationships/notesMaster" Target="/ppt/notesMasters/notesMaster1.xml" Id="R787911229e354f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5bdd0745744da1" /><Relationship Type="http://schemas.openxmlformats.org/officeDocument/2006/relationships/notesMaster" Target="/ppt/notesMasters/notesMaster1.xml" Id="Reecb53223e4f43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e8145aad5496a" /><Relationship Type="http://schemas.openxmlformats.org/officeDocument/2006/relationships/notesMaster" Target="/ppt/notesMasters/notesMaster1.xml" Id="R15588249dd904a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50397d5e0548ab" /><Relationship Type="http://schemas.openxmlformats.org/officeDocument/2006/relationships/notesMaster" Target="/ppt/notesMasters/notesMaster1.xml" Id="R8b196fa17c09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106a55df7d486d" /><Relationship Type="http://schemas.openxmlformats.org/officeDocument/2006/relationships/notesMaster" Target="/ppt/notesMasters/notesMaster1.xml" Id="R317565340ec547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24cce1b3af470e" /><Relationship Type="http://schemas.openxmlformats.org/officeDocument/2006/relationships/notesMaster" Target="/ppt/notesMasters/notesMaster1.xml" Id="R02165e6f58e348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6bbeced434212" /><Relationship Type="http://schemas.openxmlformats.org/officeDocument/2006/relationships/notesMaster" Target="/ppt/notesMasters/notesMaster1.xml" Id="R7d80fafd40ad44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1ea9abaa9d4596" /><Relationship Type="http://schemas.openxmlformats.org/officeDocument/2006/relationships/notesMaster" Target="/ppt/notesMasters/notesMaster1.xml" Id="R7f590d7aa8d744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dc3fc0b32e4d33" /><Relationship Type="http://schemas.openxmlformats.org/officeDocument/2006/relationships/notesMaster" Target="/ppt/notesMasters/notesMaster1.xml" Id="Rb1857f98df954f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d1860aafdb468e" /><Relationship Type="http://schemas.openxmlformats.org/officeDocument/2006/relationships/notesMaster" Target="/ppt/notesMasters/notesMaster1.xml" Id="Ra51f1f716c754f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51a07ab8424fa3" /><Relationship Type="http://schemas.openxmlformats.org/officeDocument/2006/relationships/notesMaster" Target="/ppt/notesMasters/notesMaster1.xml" Id="R15fb492fcfd94e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663f48d7384dac" /><Relationship Type="http://schemas.openxmlformats.org/officeDocument/2006/relationships/notesMaster" Target="/ppt/notesMasters/notesMaster1.xml" Id="Rdab3c082c66040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43ad6657484ee4" /><Relationship Type="http://schemas.openxmlformats.org/officeDocument/2006/relationships/notesMaster" Target="/ppt/notesMasters/notesMaster1.xml" Id="Ra5ab8c336ee149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开场强调这是一套可运行、可测试、可演示的学习 Agent 闭环。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User-provided project brief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用两条流程对比说明：传统平台止于完成，Learning Agent 从反馈重新进入规划。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docs/agent_workflow.md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四项能力并非功能清单，而是从规划到重规划的连续闭环。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docs/agent_workflow.md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架构图按真实实现重绘为五层；可选 LLM 位于主链右侧。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app/agent/orchestrator.py</a:t>
            </a:r>
          </a:p>
          <a:p xmlns:a="http://schemas.openxmlformats.org/drawingml/2006/main">
            <a:r>
              <a:t>- app/agent/submission_orchestrator.py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从提交开始顺时针讲解反馈闭环，橙色回路表示重规划重新进入任务生成。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docs/agent_workflow.md</a:t>
            </a:r>
          </a:p>
          <a:p xmlns:a="http://schemas.openxmlformats.org/drawingml/2006/main">
            <a:r>
              <a:t>- app/agent/submission_orchestrator.py</a:t>
            </a:r>
          </a:p>
          <a:p xmlns:a="http://schemas.openxmlformats.org/drawingml/2006/main">
            <a:r>
              <a:t>- app/tools/replanner.py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六个工具保持原有职责，只精简为一句话说明。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app/tools/plan_generator.py</a:t>
            </a:r>
          </a:p>
          <a:p xmlns:a="http://schemas.openxmlformats.org/drawingml/2006/main">
            <a:r>
              <a:t>- app/tools/exercise_generator.py</a:t>
            </a:r>
          </a:p>
          <a:p xmlns:a="http://schemas.openxmlformats.org/drawingml/2006/main">
            <a:r>
              <a:t>- app/tools/answer_evaluator.py</a:t>
            </a:r>
          </a:p>
          <a:p xmlns:a="http://schemas.openxmlformats.org/drawingml/2006/main">
            <a:r>
              <a:t>- app/tools/progress_evaluator.py</a:t>
            </a:r>
          </a:p>
          <a:p xmlns:a="http://schemas.openxmlformats.org/drawingml/2006/main">
            <a:r>
              <a:t>- app/tools/weak_point_detector.py</a:t>
            </a:r>
          </a:p>
          <a:p xmlns:a="http://schemas.openxmlformats.org/drawingml/2006/main">
            <a:r>
              <a:t>- app/tools/replanner.py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四宫格对应默认规则模式、可选 LLM、自动降级与模块化设计。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app/core/config.py</a:t>
            </a:r>
          </a:p>
          <a:p xmlns:a="http://schemas.openxmlformats.org/drawingml/2006/main">
            <a:r>
              <a:t>- app/llm/client.py</a:t>
            </a:r>
          </a:p>
          <a:p xmlns:a="http://schemas.openxmlformats.org/drawingml/2006/main">
            <a:r>
              <a:t>- app/agent/orchestrator.py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五张截图使用相同画框、边距、圆角和标签。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docs/images/dashboard.png</a:t>
            </a:r>
          </a:p>
          <a:p xmlns:a="http://schemas.openxmlformats.org/drawingml/2006/main">
            <a:r>
              <a:t>- docs/images/create-plan.png</a:t>
            </a:r>
          </a:p>
          <a:p xmlns:a="http://schemas.openxmlformats.org/drawingml/2006/main">
            <a:r>
              <a:t>- docs/images/today-task.png</a:t>
            </a:r>
          </a:p>
          <a:p xmlns:a="http://schemas.openxmlformats.org/drawingml/2006/main">
            <a:r>
              <a:t>- docs/images/feedback.png</a:t>
            </a:r>
          </a:p>
          <a:p xmlns:a="http://schemas.openxmlformats.org/drawingml/2006/main">
            <a:r>
              <a:t>- docs/images/trace.png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横向时间线突出 Decision Chain，下方保留真实 Trace 页面。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docs/images/trace.png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app/agent/trace.py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 182 项默认测试通过；真实联网 live_llm 不计入默认套件。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四项亮点分别回应产品价值、决策机制、Agent 属性与工程质量。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docs/agent_workflow.md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橙色为当前版本，蓝色与绿色为未来规划。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六项成果对应代码仓库、Release、测试、Dashboard 与学习闭环。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docs/agent_workflow.md</a:t>
            </a:r>
          </a:p>
          <a:p xmlns:a="http://schemas.openxmlformats.org/drawingml/2006/main">
            <a:r>
              <a:t>- https://brand.github.com/foundations/logo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邀请提问，可回到架构、工作流、Trace 或测试页说明实现细节。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User-provided project brief</a:t>
            </a:r>
          </a:p>
          <a:p xmlns:a="http://schemas.openxmlformats.org/drawingml/2006/main">
            <a:r>
              <a:t>- https://brand.github.com/foundations/logo</a:t>
            </a:r>
          </a:p>
          <a:p xmlns:a="http://schemas.openxmlformats.org/drawingml/2006/main">
            <a:r>
              <a:t>- Lucide icon package bundled with the local presentation runtime (ISC)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74cad49e640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4cac8945e4265" /><Relationship Type="http://schemas.openxmlformats.org/officeDocument/2006/relationships/slideLayout" Target="/ppt/slideLayouts/slideLayout1.xml" Id="R163ba00a71f847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ba00a71f847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7dad0a7ac48c5" /><Relationship Type="http://schemas.openxmlformats.org/officeDocument/2006/relationships/image" Target="/ppt/media/image.png" Id="R6af771b4c45a4414" /><Relationship Type="http://schemas.openxmlformats.org/officeDocument/2006/relationships/image" Target="/ppt/media/image.svg" Id="R16a25c2ce55e48b8" /><Relationship Type="http://schemas.openxmlformats.org/officeDocument/2006/relationships/image" Target="/ppt/media/image2.png" Id="R37d3f12bf129442a" /><Relationship Type="http://schemas.openxmlformats.org/officeDocument/2006/relationships/image" Target="/ppt/media/image2.svg" Id="Rc8ae6fb8ad0240fe" /><Relationship Type="http://schemas.openxmlformats.org/officeDocument/2006/relationships/image" Target="/ppt/media/image3.png" Id="R7dd9aadaa5f0481e" /><Relationship Type="http://schemas.openxmlformats.org/officeDocument/2006/relationships/image" Target="/ppt/media/image3.svg" Id="Ra6fa7b60581c4fe4" /><Relationship Type="http://schemas.openxmlformats.org/officeDocument/2006/relationships/image" Target="/ppt/media/image4.png" Id="Rb8b2c01db85248eb" /><Relationship Type="http://schemas.openxmlformats.org/officeDocument/2006/relationships/image" Target="/ppt/media/image4.svg" Id="Ra9b63fc531194290" /><Relationship Type="http://schemas.openxmlformats.org/officeDocument/2006/relationships/image" Target="/ppt/media/image5.png" Id="R9568d88e0f494760" /><Relationship Type="http://schemas.openxmlformats.org/officeDocument/2006/relationships/image" Target="/ppt/media/image5.svg" Id="R23e4215667bd4f8d" /><Relationship Type="http://schemas.openxmlformats.org/officeDocument/2006/relationships/notesSlide" Target="/ppt/notesSlides/notesSlide1.xml" Id="R92a769b82f5b4c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beb5bf6764c61" /><Relationship Type="http://schemas.openxmlformats.org/officeDocument/2006/relationships/image" Target="/ppt/media/image6.png" Id="R0750102ecc154f25" /><Relationship Type="http://schemas.openxmlformats.org/officeDocument/2006/relationships/image" Target="/ppt/media/image6.svg" Id="R968871f8ed1d4c6a" /><Relationship Type="http://schemas.openxmlformats.org/officeDocument/2006/relationships/image" Target="/ppt/media/image7.png" Id="R8029e048d6f64422" /><Relationship Type="http://schemas.openxmlformats.org/officeDocument/2006/relationships/image" Target="/ppt/media/image7.svg" Id="Rc8956b7d9fab492a" /><Relationship Type="http://schemas.openxmlformats.org/officeDocument/2006/relationships/image" Target="/ppt/media/image8.png" Id="Re9b265bf02414287" /><Relationship Type="http://schemas.openxmlformats.org/officeDocument/2006/relationships/image" Target="/ppt/media/image8.svg" Id="R5d952774531d4ab2" /><Relationship Type="http://schemas.openxmlformats.org/officeDocument/2006/relationships/image" Target="/ppt/media/image9.png" Id="Ra71f0c335ed84ff5" /><Relationship Type="http://schemas.openxmlformats.org/officeDocument/2006/relationships/image" Target="/ppt/media/image9.svg" Id="R0bc334ca11764e55" /><Relationship Type="http://schemas.openxmlformats.org/officeDocument/2006/relationships/image" Target="/ppt/media/image10.png" Id="Rcd75112aa03b4235" /><Relationship Type="http://schemas.openxmlformats.org/officeDocument/2006/relationships/image" Target="/ppt/media/image10.svg" Id="R43183af518db4a4e" /><Relationship Type="http://schemas.openxmlformats.org/officeDocument/2006/relationships/image" Target="/ppt/media/image11.png" Id="R7c0462afff1f4a8e" /><Relationship Type="http://schemas.openxmlformats.org/officeDocument/2006/relationships/image" Target="/ppt/media/image11.svg" Id="Ra315e2aafd9745cd" /><Relationship Type="http://schemas.openxmlformats.org/officeDocument/2006/relationships/image" Target="/ppt/media/image12.png" Id="Ra05b575904734d24" /><Relationship Type="http://schemas.openxmlformats.org/officeDocument/2006/relationships/image" Target="/ppt/media/image12.svg" Id="R8a43bab49e064256" /><Relationship Type="http://schemas.openxmlformats.org/officeDocument/2006/relationships/image" Target="/ppt/media/image13.png" Id="R1c7a13d42c594863" /><Relationship Type="http://schemas.openxmlformats.org/officeDocument/2006/relationships/image" Target="/ppt/media/image13.svg" Id="R4911b8a4158f4a59" /><Relationship Type="http://schemas.openxmlformats.org/officeDocument/2006/relationships/notesSlide" Target="/ppt/notesSlides/notesSlide2.xml" Id="R2bf92ca93ee942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9ac78527d462e" /><Relationship Type="http://schemas.openxmlformats.org/officeDocument/2006/relationships/image" Target="/ppt/media/image14.png" Id="Rbf9bedbe58694d8d" /><Relationship Type="http://schemas.openxmlformats.org/officeDocument/2006/relationships/image" Target="/ppt/media/image14.svg" Id="R4d068ed411a74cfb" /><Relationship Type="http://schemas.openxmlformats.org/officeDocument/2006/relationships/image" Target="/ppt/media/image15.png" Id="R18229381a3ba4956" /><Relationship Type="http://schemas.openxmlformats.org/officeDocument/2006/relationships/image" Target="/ppt/media/image15.svg" Id="R8e36106d46de4c0d" /><Relationship Type="http://schemas.openxmlformats.org/officeDocument/2006/relationships/image" Target="/ppt/media/image16.png" Id="R39c29c47554842b1" /><Relationship Type="http://schemas.openxmlformats.org/officeDocument/2006/relationships/image" Target="/ppt/media/image16.svg" Id="R00a221e9a6d443fd" /><Relationship Type="http://schemas.openxmlformats.org/officeDocument/2006/relationships/image" Target="/ppt/media/image17.png" Id="R6175d05df99f4d6a" /><Relationship Type="http://schemas.openxmlformats.org/officeDocument/2006/relationships/image" Target="/ppt/media/image17.svg" Id="R7ca691efbd9c43e9" /><Relationship Type="http://schemas.openxmlformats.org/officeDocument/2006/relationships/notesSlide" Target="/ppt/notesSlides/notesSlide3.xml" Id="R8d6c7b5deef94d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b38b99b1e46b8" /><Relationship Type="http://schemas.openxmlformats.org/officeDocument/2006/relationships/image" Target="/ppt/media/image18.png" Id="Re8410e0b0d144f9c" /><Relationship Type="http://schemas.openxmlformats.org/officeDocument/2006/relationships/image" Target="/ppt/media/image18.svg" Id="Rd3dc984d4225490f" /><Relationship Type="http://schemas.openxmlformats.org/officeDocument/2006/relationships/image" Target="/ppt/media/image19.png" Id="Reb5fce7b51a942fd" /><Relationship Type="http://schemas.openxmlformats.org/officeDocument/2006/relationships/image" Target="/ppt/media/image19.svg" Id="R483d22b51d614798" /><Relationship Type="http://schemas.openxmlformats.org/officeDocument/2006/relationships/image" Target="/ppt/media/image20.png" Id="Rc4e644b5e906494b" /><Relationship Type="http://schemas.openxmlformats.org/officeDocument/2006/relationships/image" Target="/ppt/media/image20.svg" Id="R630487c7ed014419" /><Relationship Type="http://schemas.openxmlformats.org/officeDocument/2006/relationships/image" Target="/ppt/media/image21.png" Id="R79fb015a726a4c84" /><Relationship Type="http://schemas.openxmlformats.org/officeDocument/2006/relationships/image" Target="/ppt/media/image21.svg" Id="R84e6dfbebc224d93" /><Relationship Type="http://schemas.openxmlformats.org/officeDocument/2006/relationships/image" Target="/ppt/media/image22.png" Id="Rd04bd6875f374f00" /><Relationship Type="http://schemas.openxmlformats.org/officeDocument/2006/relationships/image" Target="/ppt/media/image22.svg" Id="R1420006411ca457e" /><Relationship Type="http://schemas.openxmlformats.org/officeDocument/2006/relationships/image" Target="/ppt/media/image23.png" Id="Re180c07f0c674574" /><Relationship Type="http://schemas.openxmlformats.org/officeDocument/2006/relationships/image" Target="/ppt/media/image23.svg" Id="Rfbddf11fa93b4585" /><Relationship Type="http://schemas.openxmlformats.org/officeDocument/2006/relationships/image" Target="/ppt/media/image24.png" Id="Re3f5c3dcdcc94a43" /><Relationship Type="http://schemas.openxmlformats.org/officeDocument/2006/relationships/image" Target="/ppt/media/image24.svg" Id="R363debab08f84a63" /><Relationship Type="http://schemas.openxmlformats.org/officeDocument/2006/relationships/notesSlide" Target="/ppt/notesSlides/notesSlide4.xml" Id="R7d66ce47662242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2273d7c424a90" /><Relationship Type="http://schemas.openxmlformats.org/officeDocument/2006/relationships/image" Target="/ppt/media/image25.png" Id="R89d18c5de4f445f5" /><Relationship Type="http://schemas.openxmlformats.org/officeDocument/2006/relationships/image" Target="/ppt/media/image25.svg" Id="Rc4e673257a3c48cd" /><Relationship Type="http://schemas.openxmlformats.org/officeDocument/2006/relationships/image" Target="/ppt/media/image26.png" Id="R5d178c2da8504bf6" /><Relationship Type="http://schemas.openxmlformats.org/officeDocument/2006/relationships/image" Target="/ppt/media/image26.svg" Id="Rb53e2d35d9f14c06" /><Relationship Type="http://schemas.openxmlformats.org/officeDocument/2006/relationships/image" Target="/ppt/media/image27.png" Id="Rdfa5cf3139b8420d" /><Relationship Type="http://schemas.openxmlformats.org/officeDocument/2006/relationships/image" Target="/ppt/media/image27.svg" Id="Rac3b1f88f66d4b05" /><Relationship Type="http://schemas.openxmlformats.org/officeDocument/2006/relationships/image" Target="/ppt/media/image28.png" Id="Rf01595fbb5fe4d8a" /><Relationship Type="http://schemas.openxmlformats.org/officeDocument/2006/relationships/image" Target="/ppt/media/image28.svg" Id="R4ae91ab2672d47c0" /><Relationship Type="http://schemas.openxmlformats.org/officeDocument/2006/relationships/image" Target="/ppt/media/image29.png" Id="R750238ebbd2f4b8b" /><Relationship Type="http://schemas.openxmlformats.org/officeDocument/2006/relationships/image" Target="/ppt/media/image29.svg" Id="R2f755d5c36834926" /><Relationship Type="http://schemas.openxmlformats.org/officeDocument/2006/relationships/image" Target="/ppt/media/image30.png" Id="Rada0bf767623474b" /><Relationship Type="http://schemas.openxmlformats.org/officeDocument/2006/relationships/image" Target="/ppt/media/image30.svg" Id="R808919545b9744f3" /><Relationship Type="http://schemas.openxmlformats.org/officeDocument/2006/relationships/image" Target="/ppt/media/image31.png" Id="R6fa083b5a6364fbb" /><Relationship Type="http://schemas.openxmlformats.org/officeDocument/2006/relationships/image" Target="/ppt/media/image31.svg" Id="R38605b093ec64c44" /><Relationship Type="http://schemas.openxmlformats.org/officeDocument/2006/relationships/notesSlide" Target="/ppt/notesSlides/notesSlide5.xml" Id="R4b4acb0fccc2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1ee58ad734848" /><Relationship Type="http://schemas.openxmlformats.org/officeDocument/2006/relationships/image" Target="/ppt/media/image32.png" Id="R8f230f541d1b44d0" /><Relationship Type="http://schemas.openxmlformats.org/officeDocument/2006/relationships/image" Target="/ppt/media/image32.svg" Id="R50e5e7d3413b4195" /><Relationship Type="http://schemas.openxmlformats.org/officeDocument/2006/relationships/image" Target="/ppt/media/image33.png" Id="R8b1f3f46b77a4f54" /><Relationship Type="http://schemas.openxmlformats.org/officeDocument/2006/relationships/image" Target="/ppt/media/image33.svg" Id="Re95e8e4c28a94f02" /><Relationship Type="http://schemas.openxmlformats.org/officeDocument/2006/relationships/image" Target="/ppt/media/image34.png" Id="R25383d6bade54ef8" /><Relationship Type="http://schemas.openxmlformats.org/officeDocument/2006/relationships/image" Target="/ppt/media/image34.svg" Id="R42386e9364a3490b" /><Relationship Type="http://schemas.openxmlformats.org/officeDocument/2006/relationships/image" Target="/ppt/media/image35.png" Id="R566b194319c049ee" /><Relationship Type="http://schemas.openxmlformats.org/officeDocument/2006/relationships/image" Target="/ppt/media/image35.svg" Id="Rf3a4a9964fb24fbd" /><Relationship Type="http://schemas.openxmlformats.org/officeDocument/2006/relationships/image" Target="/ppt/media/image36.png" Id="Radcab6c230d84b5b" /><Relationship Type="http://schemas.openxmlformats.org/officeDocument/2006/relationships/image" Target="/ppt/media/image36.svg" Id="R32aab7de0b39420f" /><Relationship Type="http://schemas.openxmlformats.org/officeDocument/2006/relationships/image" Target="/ppt/media/image37.png" Id="R749444fff31c414f" /><Relationship Type="http://schemas.openxmlformats.org/officeDocument/2006/relationships/image" Target="/ppt/media/image37.svg" Id="R3097d2b61d944695" /><Relationship Type="http://schemas.openxmlformats.org/officeDocument/2006/relationships/notesSlide" Target="/ppt/notesSlides/notesSlide6.xml" Id="R881a64e4f2a8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d339f9f6e4689" /><Relationship Type="http://schemas.openxmlformats.org/officeDocument/2006/relationships/image" Target="/ppt/media/image38.png" Id="Rb1a8b644720344a8" /><Relationship Type="http://schemas.openxmlformats.org/officeDocument/2006/relationships/image" Target="/ppt/media/image38.svg" Id="R175e260a773a4e7f" /><Relationship Type="http://schemas.openxmlformats.org/officeDocument/2006/relationships/image" Target="/ppt/media/image39.png" Id="R1b4c6f61b8484991" /><Relationship Type="http://schemas.openxmlformats.org/officeDocument/2006/relationships/image" Target="/ppt/media/image39.svg" Id="R4cfad77c453049a0" /><Relationship Type="http://schemas.openxmlformats.org/officeDocument/2006/relationships/image" Target="/ppt/media/image40.png" Id="R15f1c2c7f47f4f3b" /><Relationship Type="http://schemas.openxmlformats.org/officeDocument/2006/relationships/image" Target="/ppt/media/image40.svg" Id="R494e194c40b148a3" /><Relationship Type="http://schemas.openxmlformats.org/officeDocument/2006/relationships/image" Target="/ppt/media/image41.png" Id="Ra6902049447d4cb1" /><Relationship Type="http://schemas.openxmlformats.org/officeDocument/2006/relationships/image" Target="/ppt/media/image41.svg" Id="R8affae96436a481e" /><Relationship Type="http://schemas.openxmlformats.org/officeDocument/2006/relationships/notesSlide" Target="/ppt/notesSlides/notesSlide7.xml" Id="R3e102f32fe814e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ce4adb81a454f" /><Relationship Type="http://schemas.openxmlformats.org/officeDocument/2006/relationships/image" Target="/ppt/media/image42.png" Id="R5652ff6c2d864fa0" /><Relationship Type="http://schemas.openxmlformats.org/officeDocument/2006/relationships/image" Target="/ppt/media/image43.png" Id="Rd2e1c6e6b84e4a28" /><Relationship Type="http://schemas.openxmlformats.org/officeDocument/2006/relationships/image" Target="/ppt/media/image44.png" Id="Rb3b3c899235c480a" /><Relationship Type="http://schemas.openxmlformats.org/officeDocument/2006/relationships/image" Target="/ppt/media/image45.png" Id="R46264638d6ec410c" /><Relationship Type="http://schemas.openxmlformats.org/officeDocument/2006/relationships/image" Target="/ppt/media/image46.png" Id="Rd87caecb766f4799" /><Relationship Type="http://schemas.openxmlformats.org/officeDocument/2006/relationships/notesSlide" Target="/ppt/notesSlides/notesSlide8.xml" Id="R7aecaceb345b4d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69f2172d945bc" /><Relationship Type="http://schemas.openxmlformats.org/officeDocument/2006/relationships/image" Target="/ppt/media/image47.png" Id="R99b7d425f6e54a17" /><Relationship Type="http://schemas.openxmlformats.org/officeDocument/2006/relationships/image" Target="/ppt/media/image42.svg" Id="R3f2d45adff404e5c" /><Relationship Type="http://schemas.openxmlformats.org/officeDocument/2006/relationships/image" Target="/ppt/media/image48.png" Id="R427660cf146b4232" /><Relationship Type="http://schemas.openxmlformats.org/officeDocument/2006/relationships/image" Target="/ppt/media/image43.svg" Id="R18e207e1061a402a" /><Relationship Type="http://schemas.openxmlformats.org/officeDocument/2006/relationships/image" Target="/ppt/media/image49.png" Id="R5e509b8e01fc4be5" /><Relationship Type="http://schemas.openxmlformats.org/officeDocument/2006/relationships/image" Target="/ppt/media/image44.svg" Id="R104f141547cc4acc" /><Relationship Type="http://schemas.openxmlformats.org/officeDocument/2006/relationships/image" Target="/ppt/media/image50.png" Id="R627a7055ab6b4992" /><Relationship Type="http://schemas.openxmlformats.org/officeDocument/2006/relationships/image" Target="/ppt/media/image45.svg" Id="R1a63728e534b4b87" /><Relationship Type="http://schemas.openxmlformats.org/officeDocument/2006/relationships/image" Target="/ppt/media/image51.png" Id="R2799dee6fd7c4472" /><Relationship Type="http://schemas.openxmlformats.org/officeDocument/2006/relationships/image" Target="/ppt/media/image46.svg" Id="R7c43d22fe6544ce9" /><Relationship Type="http://schemas.openxmlformats.org/officeDocument/2006/relationships/image" Target="/ppt/media/image52.png" Id="R4f7c8e5717e94c04" /><Relationship Type="http://schemas.openxmlformats.org/officeDocument/2006/relationships/image" Target="/ppt/media/image47.svg" Id="R3802cdc59522472c" /><Relationship Type="http://schemas.openxmlformats.org/officeDocument/2006/relationships/image" Target="/ppt/media/image53.png" Id="R862ca72309304e74" /><Relationship Type="http://schemas.openxmlformats.org/officeDocument/2006/relationships/notesSlide" Target="/ppt/notesSlides/notesSlide9.xml" Id="Rf5539be334464f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23ba43d9441b8" /><Relationship Type="http://schemas.openxmlformats.org/officeDocument/2006/relationships/image" Target="/ppt/media/image54.png" Id="R1a6858bce705402e" /><Relationship Type="http://schemas.openxmlformats.org/officeDocument/2006/relationships/image" Target="/ppt/media/image48.svg" Id="R08966e95e26d4ada" /><Relationship Type="http://schemas.openxmlformats.org/officeDocument/2006/relationships/image" Target="/ppt/media/image55.png" Id="R15d7fc9778e14ff3" /><Relationship Type="http://schemas.openxmlformats.org/officeDocument/2006/relationships/image" Target="/ppt/media/image49.svg" Id="R0e73974655d34105" /><Relationship Type="http://schemas.openxmlformats.org/officeDocument/2006/relationships/image" Target="/ppt/media/image56.png" Id="Rcba6334ce3444c3a" /><Relationship Type="http://schemas.openxmlformats.org/officeDocument/2006/relationships/image" Target="/ppt/media/image50.svg" Id="Ra6d5533257fd4126" /><Relationship Type="http://schemas.openxmlformats.org/officeDocument/2006/relationships/image" Target="/ppt/media/image57.png" Id="Re24a4003defb4469" /><Relationship Type="http://schemas.openxmlformats.org/officeDocument/2006/relationships/image" Target="/ppt/media/image51.svg" Id="R648f333d9fc44cab" /><Relationship Type="http://schemas.openxmlformats.org/officeDocument/2006/relationships/image" Target="/ppt/media/image58.png" Id="R79078cf8cfdd40c9" /><Relationship Type="http://schemas.openxmlformats.org/officeDocument/2006/relationships/image" Target="/ppt/media/image52.svg" Id="Rcc1f24da37254cb2" /><Relationship Type="http://schemas.openxmlformats.org/officeDocument/2006/relationships/image" Target="/ppt/media/image59.png" Id="R820eed1dc8c5464e" /><Relationship Type="http://schemas.openxmlformats.org/officeDocument/2006/relationships/image" Target="/ppt/media/image53.svg" Id="R8d726f365dfd4494" /><Relationship Type="http://schemas.openxmlformats.org/officeDocument/2006/relationships/notesSlide" Target="/ppt/notesSlides/notesSlide10.xml" Id="R1f93b561211a4e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659af5bd342a2" /><Relationship Type="http://schemas.openxmlformats.org/officeDocument/2006/relationships/image" Target="/ppt/media/image60.png" Id="R5f0b0ca381c5404f" /><Relationship Type="http://schemas.openxmlformats.org/officeDocument/2006/relationships/image" Target="/ppt/media/image54.svg" Id="Rb7d9bf028c594ecc" /><Relationship Type="http://schemas.openxmlformats.org/officeDocument/2006/relationships/image" Target="/ppt/media/image61.png" Id="R6df5fcbfca144921" /><Relationship Type="http://schemas.openxmlformats.org/officeDocument/2006/relationships/image" Target="/ppt/media/image55.svg" Id="R45e5d1fcc6ee446f" /><Relationship Type="http://schemas.openxmlformats.org/officeDocument/2006/relationships/image" Target="/ppt/media/image62.png" Id="R79358db6591f46e4" /><Relationship Type="http://schemas.openxmlformats.org/officeDocument/2006/relationships/image" Target="/ppt/media/image56.svg" Id="R8705d01ec2bf4f74" /><Relationship Type="http://schemas.openxmlformats.org/officeDocument/2006/relationships/image" Target="/ppt/media/image63.png" Id="R743f317c91a14a4f" /><Relationship Type="http://schemas.openxmlformats.org/officeDocument/2006/relationships/image" Target="/ppt/media/image57.svg" Id="R229c71ce8ab94486" /><Relationship Type="http://schemas.openxmlformats.org/officeDocument/2006/relationships/notesSlide" Target="/ppt/notesSlides/notesSlide11.xml" Id="R8f6e223f2e8d4a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8722e09534620" /><Relationship Type="http://schemas.openxmlformats.org/officeDocument/2006/relationships/image" Target="/ppt/media/image64.png" Id="R86397457f3774dbb" /><Relationship Type="http://schemas.openxmlformats.org/officeDocument/2006/relationships/image" Target="/ppt/media/image58.svg" Id="R2bc0739017f84a5d" /><Relationship Type="http://schemas.openxmlformats.org/officeDocument/2006/relationships/notesSlide" Target="/ppt/notesSlides/notesSlide12.xml" Id="R53de82511b9a44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89435c45e436d" /><Relationship Type="http://schemas.openxmlformats.org/officeDocument/2006/relationships/image" Target="/ppt/media/image65.png" Id="R435996f4bde74a25" /><Relationship Type="http://schemas.openxmlformats.org/officeDocument/2006/relationships/image" Target="/ppt/media/image66.png" Id="R08f9e45fd3974444" /><Relationship Type="http://schemas.openxmlformats.org/officeDocument/2006/relationships/image" Target="/ppt/media/image59.svg" Id="R01df9098055644a4" /><Relationship Type="http://schemas.openxmlformats.org/officeDocument/2006/relationships/image" Target="/ppt/media/image67.png" Id="R702692fcf32a4524" /><Relationship Type="http://schemas.openxmlformats.org/officeDocument/2006/relationships/image" Target="/ppt/media/image60.svg" Id="R47a3076ca4ca4470" /><Relationship Type="http://schemas.openxmlformats.org/officeDocument/2006/relationships/image" Target="/ppt/media/image68.png" Id="R86fe5f61c6864669" /><Relationship Type="http://schemas.openxmlformats.org/officeDocument/2006/relationships/image" Target="/ppt/media/image61.svg" Id="Rea58790dee584dc9" /><Relationship Type="http://schemas.openxmlformats.org/officeDocument/2006/relationships/image" Target="/ppt/media/image69.png" Id="R0eccdc5702264a00" /><Relationship Type="http://schemas.openxmlformats.org/officeDocument/2006/relationships/image" Target="/ppt/media/image62.svg" Id="Rd02cc5a197b345c8" /><Relationship Type="http://schemas.openxmlformats.org/officeDocument/2006/relationships/image" Target="/ppt/media/image70.png" Id="R79df9d8366384db7" /><Relationship Type="http://schemas.openxmlformats.org/officeDocument/2006/relationships/image" Target="/ppt/media/image63.svg" Id="R8bb24634f97a40d1" /><Relationship Type="http://schemas.openxmlformats.org/officeDocument/2006/relationships/notesSlide" Target="/ppt/notesSlides/notesSlide13.xml" Id="R3afb7f72204048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97b04337482f" /><Relationship Type="http://schemas.openxmlformats.org/officeDocument/2006/relationships/image" Target="/ppt/media/image71.png" Id="R0d0a63be900f492d" /><Relationship Type="http://schemas.openxmlformats.org/officeDocument/2006/relationships/image" Target="/ppt/media/image72.png" Id="R1793b50e99f24c96" /><Relationship Type="http://schemas.openxmlformats.org/officeDocument/2006/relationships/image" Target="/ppt/media/image64.svg" Id="Rf7add193555a47dd" /><Relationship Type="http://schemas.openxmlformats.org/officeDocument/2006/relationships/notesSlide" Target="/ppt/notesSlides/notesSlide14.xml" Id="R6d7f3b4e105647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11E613-85E5-49CA-9763-31A6C4D8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24C96-2538-4680-990B-440B6581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DD557-1FE8-47D0-92B5-6B7D1088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B3D8C-292C-4E1B-936F-419021F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C9DFB-2A17-4B95-BB8D-84E7CCCC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ABFBF-0E5E-4AD6-B21D-26D5C110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8FB31-BF34-4834-8F04-65A882E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039A5-4041-4D34-9443-BFE859FB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67F2E-9972-49C4-ABC1-BD83C873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10893-5D91-4DF5-BBF2-D55E08B6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DF005-14B2-46CD-8A22-6308B21F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B6135-360C-4E37-8890-C342381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09799-F6C7-4A60-B2DB-F73D377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2B8FF-0F3E-4857-BE73-FA9D2272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05244-D1EF-4691-B1F6-A6B889D1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0C211-2E87-42EE-A318-EB793D3B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44987-9D6C-43FD-81B1-BF3D028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E618B-CB79-4F7F-8C49-FA625ADC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CB9176-A42F-4587-A3F1-BDC32F8F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1EE05-9EB5-4EE4-ACBD-71BE7CA2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F2654-4E7A-4282-AAE6-27080C78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94CA9-8817-4450-B20D-1AAF3693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71E0E-B2C6-4524-98C4-52C5FAC6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B81AD-0F4A-4407-A431-C5A0040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7BB95B-EC52-4AB6-A917-B4001F3E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11E2D-CA77-4297-82B1-6342360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87AED-AE55-4023-BC49-DC959E8F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57E95-4E25-4025-8F76-F460907E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472AC5-8AC6-4BBE-ADB7-20A4645D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5B676-F551-4E62-B587-00EDA189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41AA05-392F-43EF-8349-AA0EBDBD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0474C-81F8-4946-985F-F647298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59DBA-944A-46F4-8FF3-038B332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4D8E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CA0FAC-6814-4222-AE2F-0D64399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8D798C-912E-4A9D-8B5B-FEA9EA4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RELEASE v1.1 · FINAL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2F70EE-704C-41CF-A3AB-BB516B9A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2A46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771b4c45a4414">
            <a:extLst>
              <a:ext uri="{96DAC541-7B7A-43D3-8B79-37D633B846F1}">
                <asvg:svgBlip xmlns:asvg="http://schemas.microsoft.com/office/drawing/2016/SVG/main" r:embed="R16a25c2ce55e48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2871" y="1253871"/>
            <a:ext cx="349758" cy="349758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7DB9B2-5187-4CB5-B552-F18F1321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52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</a:defRPr>
            </a:pPr>
            <a:r>
              <a:rPr sz="4050" b="1">
                <a:solidFill>
                  <a:srgbClr val="F8FAFC"/>
                </a:solidFill>
              </a:rPr>
              <a:t>大学生学习助手 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C3BAA1-9B03-40FD-A6B3-9D2C33C1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923C"/>
                </a:solidFill>
              </a:defRPr>
            </a:pPr>
            <a:r>
              <a:rPr sz="1800" b="1">
                <a:solidFill>
                  <a:srgbClr val="FB923C"/>
                </a:solidFill>
              </a:rPr>
              <a:t>University Learning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D3DD76-53BE-40FD-8241-4E794962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7F3"/>
                </a:solidFill>
              </a:defRPr>
            </a:pPr>
            <a:r>
              <a:rPr sz="1875" b="0">
                <a:solidFill>
                  <a:srgbClr val="DCE7F3"/>
                </a:solidFill>
              </a:rPr>
              <a:t>基于学习诊断与动态规划的主动学习平台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E86074-25E8-4DC0-9F56-3C385D95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3f12bf129442a">
            <a:extLst>
              <a:ext uri="{96DAC541-7B7A-43D3-8B79-37D633B846F1}">
                <asvg:svgBlip xmlns:asvg="http://schemas.microsoft.com/office/drawing/2016/SVG/main" r:embed="Rc8ae6fb8ad0240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2005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E39F00-90D6-4C3B-B2F7-6D8E67CD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FastAPI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761751-87A3-4A00-B9E9-0D82308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97316">
                <a:alpha val="53333"/>
              </a:srgbClr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9aadaa5f0481e">
            <a:extLst>
              <a:ext uri="{96DAC541-7B7A-43D3-8B79-37D633B846F1}">
                <asvg:svgBlip xmlns:asvg="http://schemas.microsoft.com/office/drawing/2016/SVG/main" r:embed="Ra6fa7b60581c4f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14550" y="42005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56EF1F-F1FC-4CB9-91B9-1ABBDBF7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Gradio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FE5AC2-7892-437F-A9A6-C226C1E0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2c01db85248eb">
            <a:extLst>
              <a:ext uri="{96DAC541-7B7A-43D3-8B79-37D633B846F1}">
                <asvg:svgBlip xmlns:asvg="http://schemas.microsoft.com/office/drawing/2016/SVG/main" r:embed="Ra9b63fc5311942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52800" y="42005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091B41-4E54-401C-B009-01E065F7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910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D399"/>
                </a:solidFill>
              </a:defRPr>
            </a:pPr>
            <a:r>
              <a:rPr sz="900" b="1">
                <a:solidFill>
                  <a:srgbClr val="34D399"/>
                </a:solidFill>
              </a:rPr>
              <a:t>SQLite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81065C-0394-40BD-BAB0-AA9869D4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B923C">
                <a:alpha val="53333"/>
              </a:srgbClr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d88e0f494760">
            <a:extLst>
              <a:ext uri="{96DAC541-7B7A-43D3-8B79-37D633B846F1}">
                <asvg:svgBlip xmlns:asvg="http://schemas.microsoft.com/office/drawing/2016/SVG/main" r:embed="R23e4215667bd4f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91050" y="42005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0F2999-231C-4442-A5FE-622556F9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91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B923C"/>
                </a:solidFill>
              </a:defRPr>
            </a:pPr>
            <a:r>
              <a:rPr sz="900" b="1">
                <a:solidFill>
                  <a:srgbClr val="FB923C"/>
                </a:solidFill>
              </a:rPr>
              <a:t>Rule 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70BF2B-A18F-4537-A242-DE1225E1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陈晗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A34FE9-8784-4B35-A368-4B19F8B3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中国地质大学（北京） · 人工智能学院 · 软件工程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1F60A0-EA8C-48A1-A002-186B7094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3431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D31">
              <a:alpha val="80000"/>
            </a:srgbClr>
          </a:solidFill>
          <a:ln xmlns:a="http://schemas.openxmlformats.org/drawingml/2006/main" w="9525">
            <a:solidFill>
              <a:srgbClr val="3A5F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E9801F-33DE-4E4F-96BE-7E21358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672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PLAN · EVALUATE · REPLAN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A65F3D-1789-4CE1-8674-0652A184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19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主动学习闭环</a:t>
            </a:r>
          </a:p>
        </p:txBody>
      </p:sp>
    </p:spTree>
    <p:extLst>
      <p:ext uri="{BB962C8B-B14F-4D97-AF65-F5344CB8AC3E}">
        <p14:creationId xmlns:p14="http://schemas.microsoft.com/office/powerpoint/2010/main" val="1944172205"/>
      </p:ext>
    </p:extLst>
  </p:cSld>
  <p:transition spd="med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E6A320-69AE-41A4-B3DB-447BD6A9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A3B93-006B-4A78-BEC7-B1F15046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22F1E-819F-450E-90C6-9E39040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01 /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ED0E2-2952-413F-9BA2-BBAFBCA4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固定学习流程，无法回应真实学习结果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CD33E-7611-420E-9DEA-E33AA453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Learning Agent 将学习结果转化为下一轮规划输入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49A73-9E4F-43B4-B66A-2F3B3541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03616-FF6C-45CE-8D2D-9EDEDCB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2050B-A346-40C8-9B58-71EFB55E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C0F5E-8D26-413E-A45D-18D6369E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25EFE-EFD7-4219-B04E-6B6D976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2862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0C1929">
              <a:alpha val="85098"/>
            </a:srgbClr>
          </a:solidFill>
          <a:ln xmlns:a="http://schemas.openxmlformats.org/drawingml/2006/main" w="9525">
            <a:solidFill>
              <a:srgbClr val="3650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7B018-39A5-49AA-B0B6-50827442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A5BD"/>
                </a:solidFill>
              </a:defRPr>
            </a:pPr>
            <a:r>
              <a:rPr sz="1875" b="1">
                <a:solidFill>
                  <a:srgbClr val="8FA5BD"/>
                </a:solidFill>
              </a:rPr>
              <a:t>传统学习平台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0BC47-A81D-4149-91F7-3EC313C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05025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9525">
            <a:solidFill>
              <a:srgbClr val="7890A8">
                <a:alpha val="5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43181-21C2-4BE5-BBB9-CB3CFE25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812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890A8"/>
                </a:solidFill>
              </a:defRPr>
            </a:pPr>
            <a:r>
              <a:rPr sz="900" b="1">
                <a:solidFill>
                  <a:srgbClr val="7890A8"/>
                </a:solidFill>
              </a:rPr>
              <a:t>STATIC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BD271-2228-461E-A053-9A8F19C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637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DB380-5ACB-45B9-98D8-7F258C75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05100" y="4838700"/>
            <a:ext cx="2095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96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3D0CC-0A7D-454B-BEB4-60D5C450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8DA2B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0102ecc154f25">
            <a:extLst>
              <a:ext uri="{96DAC541-7B7A-43D3-8B79-37D633B846F1}">
                <asvg:svgBlip xmlns:asvg="http://schemas.microsoft.com/office/drawing/2016/SVG/main" r:embed="R968871f8ed1d4c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54430" y="2773680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1E7A8-F14A-4E71-8FBB-7ADA3A7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7F3"/>
                </a:solidFill>
              </a:defRPr>
            </a:pPr>
            <a:r>
              <a:rPr sz="1350" b="1">
                <a:solidFill>
                  <a:srgbClr val="DCE7F3"/>
                </a:solidFill>
              </a:rPr>
              <a:t>课程内容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F60CD-ADC5-4693-B815-68AB7BAF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8DA2B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9e048d6f64422">
            <a:extLst>
              <a:ext uri="{96DAC541-7B7A-43D3-8B79-37D633B846F1}">
                <asvg:svgBlip xmlns:asvg="http://schemas.microsoft.com/office/drawing/2016/SVG/main" r:embed="Rc8956b7d9fab49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54430" y="3516630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554D2-56E8-422D-BD29-E467600C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05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7F3"/>
                </a:solidFill>
              </a:defRPr>
            </a:pPr>
            <a:r>
              <a:rPr sz="1350" b="1">
                <a:solidFill>
                  <a:srgbClr val="DCE7F3"/>
                </a:solidFill>
              </a:rPr>
              <a:t>固定计划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56F19-9196-4B78-AF8F-7722709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8DA2B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265bf02414287">
            <a:extLst>
              <a:ext uri="{96DAC541-7B7A-43D3-8B79-37D633B846F1}">
                <asvg:svgBlip xmlns:asvg="http://schemas.microsoft.com/office/drawing/2016/SVG/main" r:embed="R5d952774531d4a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54430" y="4259580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48D69-5DEB-4B62-9E23-CCCFD3EF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48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7F3"/>
                </a:solidFill>
              </a:defRPr>
            </a:pPr>
            <a:r>
              <a:rPr sz="1350" b="1">
                <a:solidFill>
                  <a:srgbClr val="DCE7F3"/>
                </a:solidFill>
              </a:rPr>
              <a:t>完成学习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88EB7-8848-4417-9EB2-519C3299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8DA2B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f0c335ed84ff5">
            <a:extLst>
              <a:ext uri="{96DAC541-7B7A-43D3-8B79-37D633B846F1}">
                <asvg:svgBlip xmlns:asvg="http://schemas.microsoft.com/office/drawing/2016/SVG/main" r:embed="R0bc334ca11764e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54430" y="5002530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D31A2B-46A0-438F-844E-F1E35067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91A6"/>
                </a:solidFill>
              </a:defRPr>
            </a:pPr>
            <a:r>
              <a:rPr sz="1350" b="1">
                <a:solidFill>
                  <a:srgbClr val="7D91A6"/>
                </a:solidFill>
              </a:rPr>
              <a:t>流程结束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F80D0D-6575-469F-8EFE-23AC8B92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D91A6"/>
                </a:solidFill>
              </a:defRPr>
            </a:pPr>
            <a:r>
              <a:rPr sz="1200" b="0">
                <a:solidFill>
                  <a:srgbClr val="7D91A6"/>
                </a:solidFill>
              </a:rPr>
              <a:t>一次生成 · 单向执行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50066-8FBD-4E09-9886-814C62CA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467100"/>
            <a:ext cx="704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80A85-B5F8-4363-8535-5355CC0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反馈驱动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D469DD-9A1B-4952-8DCD-0140C3B5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387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02746">
              <a:alpha val="90980"/>
            </a:srgbClr>
          </a:solidFill>
          <a:ln xmlns:a="http://schemas.openxmlformats.org/drawingml/2006/main" w="13335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A2132-F520-42A1-9FC6-0B1B1695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Learning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C3F9E5-8D86-43AC-8A8E-96FD22E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05025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97316">
                <a:alpha val="53333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27B9E8-CEDF-4B01-9A12-0CD77A90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812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FEEDBACK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910322-5C62-4394-AFED-1D9B75E9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3200400"/>
            <a:ext cx="647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72AAD6-81CA-4BF0-8A30-8DE6A70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67825" y="3648075"/>
            <a:ext cx="1905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0CB853-173A-4661-8460-F46F29C3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039100" y="4657725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9B7034-4132-412E-B360-9065D979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496175" y="3648075"/>
            <a:ext cx="1905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61C129-7581-41A4-8900-5B81483F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1238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032BF3-10D0-4174-B260-F7468EE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2362AD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5112aa03b4235">
            <a:extLst>
              <a:ext uri="{96DAC541-7B7A-43D3-8B79-37D633B846F1}">
                <asvg:svgBlip xmlns:asvg="http://schemas.microsoft.com/office/drawing/2016/SVG/main" r:embed="R43183af518db4a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2036" y="31224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3227B5-D7F7-42DD-96EA-97A17C66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学习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22A611-35B3-461D-A54F-929DF5EA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238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3325F1-51BE-4A6E-BAD1-13C9DE09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462afff1f4a8e">
            <a:extLst>
              <a:ext uri="{96DAC541-7B7A-43D3-8B79-37D633B846F1}">
                <asvg:svgBlip xmlns:asvg="http://schemas.microsoft.com/office/drawing/2016/SVG/main" r:embed="Ra315e2aafd9745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13686" y="31224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1A9F53-9138-4D9F-85D2-3E77165C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575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评价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A2E8D2-0507-4CFD-B67B-4F8ED8D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1238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8C8540-E207-4844-A39C-1EF174D2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95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b575904734d24">
            <a:extLst>
              <a:ext uri="{96DAC541-7B7A-43D3-8B79-37D633B846F1}">
                <asvg:svgBlip xmlns:asvg="http://schemas.microsoft.com/office/drawing/2016/SVG/main" r:embed="R8a43bab49e0642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13686" y="45702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48E52C-ACFB-4FBB-B079-1CD1A33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053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规划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BB7C3F-FC48-4B76-AC06-4453BF54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1238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756EA7-BDDA-4795-92B2-AE81049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95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a13d42c594863">
            <a:extLst>
              <a:ext uri="{96DAC541-7B7A-43D3-8B79-37D633B846F1}">
                <asvg:svgBlip xmlns:asvg="http://schemas.microsoft.com/office/drawing/2016/SVG/main" r:embed="R4911b8a4158f4a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2036" y="45702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DDB21B-CD3A-4B84-A08C-BCAF8633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053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继续学习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65BC6F-4CF9-4D0D-8174-65E983D4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95900"/>
            <a:ext cx="3543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感知 → 分析 → 决策 → 再执行</a:t>
            </a:r>
          </a:p>
        </p:txBody>
      </p:sp>
    </p:spTree>
    <p:extLst>
      <p:ext uri="{BB962C8B-B14F-4D97-AF65-F5344CB8AC3E}">
        <p14:creationId xmlns:p14="http://schemas.microsoft.com/office/powerpoint/2010/main" val="242117949"/>
      </p:ext>
    </p:extLst>
  </p:cSld>
  <p:transition spd="med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454260-2D5E-45FF-BC62-261EC97B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CACB9-C53F-4DFC-8555-271183CB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6A438-E582-4D53-B71E-EB78A900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02 /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4914C-661C-4927-8C03-DAF20072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让 Agent 自主规划、持续评估并动态调整学习路径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46220-A860-41F2-ADFE-3214CC09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四项能力组成同一条可持续学习闭环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1E612-B619-4E40-B3AC-DF541B5C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FC1B6-9995-472E-BE6C-13252DD5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44DB5-EE32-48B9-BE8B-8F1D8975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795C2-BC0A-4EFB-8BDB-FD16FDF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F7A08-2E95-4E9C-B068-751DE24B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构建一个能够自主规划、持续评估并动态调整学习路径的 AI Agent。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22072-B4AF-41B0-AAD7-74BF2221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45745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9456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E4666-633C-4EC1-B67A-BB384FF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A46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bedbe58694d8d">
            <a:extLst>
              <a:ext uri="{96DAC541-7B7A-43D3-8B79-37D633B846F1}">
                <asvg:svgBlip xmlns:asvg="http://schemas.microsoft.com/office/drawing/2016/SVG/main" r:embed="R4d068ed411a74c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82890" y="3325940"/>
            <a:ext cx="339471" cy="33947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1BF9-1575-4A75-B467-99EC582B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自动规划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E8845-19A2-4E16-97FC-9192FF0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目标与课程资料 → 每日任务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7A4B8-2B34-488C-9D0D-A23AA2FB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B647B-ADA3-4E66-B119-7DF67799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245745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9456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54188-F4D3-4960-A1C5-6B72FC8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A46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29381a3ba4956">
            <a:extLst>
              <a:ext uri="{96DAC541-7B7A-43D3-8B79-37D633B846F1}">
                <asvg:svgBlip xmlns:asvg="http://schemas.microsoft.com/office/drawing/2016/SVG/main" r:embed="R8e36106d46de4c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87990" y="3325940"/>
            <a:ext cx="339471" cy="339471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612EC-B626-4414-B8B5-C9FB182B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自动练习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3D4A2-C658-49B1-84CB-2A77B12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43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按学习日生成多题型练习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47E57-F683-402B-ABAA-6D3CC981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F0423-3AFF-41FA-8DB7-33225E5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245745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9456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9FBAD-D602-47FD-98F7-5AD542A2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813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A46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29c47554842b1">
            <a:extLst>
              <a:ext uri="{96DAC541-7B7A-43D3-8B79-37D633B846F1}">
                <asvg:svgBlip xmlns:asvg="http://schemas.microsoft.com/office/drawing/2016/SVG/main" r:embed="R00a221e9a6d443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93089" y="3325940"/>
            <a:ext cx="339471" cy="339471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5CDC0-C529-4CC5-A0F0-4EF68FFF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自动评价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3DB9F-1522-486F-8D18-CD5C58D5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43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正确率 → 知识掌握度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1F1465-9CBD-4BA3-8D6F-D4801EE9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2F800-697C-4E99-953D-15CD1BDB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245745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32D4A">
              <a:alpha val="90980"/>
            </a:srgbClr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A2278-DA7F-4DDC-8E7D-F0AB92D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813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A46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5d05df99f4d6a">
            <a:extLst>
              <a:ext uri="{96DAC541-7B7A-43D3-8B79-37D633B846F1}">
                <asvg:svgBlip xmlns:asvg="http://schemas.microsoft.com/office/drawing/2016/SVG/main" r:embed="R7ca691efbd9c43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98190" y="3325940"/>
            <a:ext cx="339471" cy="339471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FA729-BAE8-45DC-B2FE-990C2092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自动重规划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13BAD6-633D-4271-B5DC-DB3BC5FD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43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薄弱点 → 未来任务调整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14A092-BE5E-4663-A29F-B09F7A54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9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60E3B2-863F-4711-9CED-7786833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PLAN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8BB082-AC67-4CB7-A7DA-B7D4934E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19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PRACTICE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7E5CE6-BAF6-4E41-807C-95072EA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19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EVALUATE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8D11BB-2737-42E8-A2EF-47CCD676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9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REPLAN</a:t>
            </a:r>
          </a:p>
        </p:txBody>
      </p:sp>
    </p:spTree>
    <p:extLst>
      <p:ext uri="{BB962C8B-B14F-4D97-AF65-F5344CB8AC3E}">
        <p14:creationId xmlns:p14="http://schemas.microsoft.com/office/powerpoint/2010/main" val="1548692546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3F1FE2-4A41-4A17-8BFC-D68521CE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B647C-5D56-48FA-88D5-C2E1AC72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12B14-A615-4E34-96A0-C42A724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03 /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1829C-168D-43C3-9C7A-BFC0B374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五层架构将产品体验、Agent 决策与数据状态解耦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1EFC6-C16D-4BC0-B958-06B62846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OpenAI Compatible 作为可选能力，不进入主依赖链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479C-E5D4-40C6-8E1D-1E6140B3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52331-86CD-457B-9642-AF4C61E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7186F-5F54-4842-B043-206B05D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56BB6-E134-48FC-9F4D-03CF455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765DE-6483-4380-A199-7C14230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46FA3-774F-4E5C-B70F-EED4ED3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0383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29A77-46F9-4928-87C4-6200715C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37C75-8EA1-430E-B491-C0761C1E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10225" y="2609850"/>
            <a:ext cx="209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7B8BF-87B7-48CC-B9B7-1BD89AC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10225" y="3276600"/>
            <a:ext cx="209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277EA-9075-4958-91F2-06AC430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10225" y="3943350"/>
            <a:ext cx="209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E4E40-A191-4D9B-9E86-C51624E4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10225" y="4991100"/>
            <a:ext cx="209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4E296-A3DA-43D4-8FA3-FBFB2D0F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BDF8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FCB2E-9888-4DBA-AA81-F809399E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352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DB0E1-7834-4F15-A879-4138AAA3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10e0b0d144f9c">
            <a:extLst>
              <a:ext uri="{96DAC541-7B7A-43D3-8B79-37D633B846F1}">
                <asvg:svgBlip xmlns:asvg="http://schemas.microsoft.com/office/drawing/2016/SVG/main" r:embed="Rd3dc984d422549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535" y="199853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3DB8D-4D2D-4F0B-9D89-9C9D89B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335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大学生用户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DB42E-CC0C-4048-9025-270EE7F1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学习与反馈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1CB3A-0603-42B6-99E7-07DA849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52600"/>
            <a:ext cx="685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AF414-0439-423A-A1F2-3D964E7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478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2362AD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fce7b51a942fd">
            <a:extLst>
              <a:ext uri="{96DAC541-7B7A-43D3-8B79-37D633B846F1}">
                <asvg:svgBlip xmlns:asvg="http://schemas.microsoft.com/office/drawing/2016/SVG/main" r:embed="R483d22b51d6147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1649" y="1931099"/>
            <a:ext cx="195453" cy="195453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B05CD-4171-476C-8AF6-3A0C787E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76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Gradio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C109D-A228-46B2-9C63-7236CDB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14525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学习概览 · 创建计划 · 今日任务 · Agent Trace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3A71B-9FF3-4D60-BA8A-45B44D80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19350"/>
            <a:ext cx="685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7CDAD-3464-4EED-9FA3-BBBDEC8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146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644b5e906494b">
            <a:extLst>
              <a:ext uri="{96DAC541-7B7A-43D3-8B79-37D633B846F1}">
                <asvg:svgBlip xmlns:asvg="http://schemas.microsoft.com/office/drawing/2016/SVG/main" r:embed="R630487c7ed0144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1649" y="2597849"/>
            <a:ext cx="195453" cy="195453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DE911-161B-4DF0-ACCA-4C774E37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FastAPI Backend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1BAD4-CC5C-4503-AA41-C909A9D2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81275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API 路由 · 服务编排 · 健康检查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63FDFD-03E7-4360-B49E-7522A818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86100"/>
            <a:ext cx="685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3C2103-8F1C-47CC-8B9E-DFC3F05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b015a726a4c84">
            <a:extLst>
              <a:ext uri="{96DAC541-7B7A-43D3-8B79-37D633B846F1}">
                <asvg:svgBlip xmlns:asvg="http://schemas.microsoft.com/office/drawing/2016/SVG/main" r:embed="R84e6dfbebc224d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1649" y="3264599"/>
            <a:ext cx="195453" cy="195453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BA771E-9451-4FF0-8B61-BFA833A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9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Agent Orchestrator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DD32E6-8DF5-4B30-B2C9-10DDD2A3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48025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Learning Plan Orchestrator · Submission Orchestrator · Trace Recorder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D7874A-F3BA-4AD8-B241-7701D143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6858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096E36-305B-4C54-AC15-FC2CB0E7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052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2362AD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bd6875f374f00">
            <a:extLst>
              <a:ext uri="{96DAC541-7B7A-43D3-8B79-37D633B846F1}">
                <asvg:svgBlip xmlns:asvg="http://schemas.microsoft.com/office/drawing/2016/SVG/main" r:embed="R1420006411ca45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1649" y="4188524"/>
            <a:ext cx="195453" cy="195453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3AA4EF-F3EF-47E5-8EC7-B866FC85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76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Agent Tools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AA9360-42CD-45F1-B567-1EF7824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3860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FA5BD"/>
                </a:solidFill>
              </a:defRPr>
            </a:pPr>
            <a:r>
              <a:rPr sz="1050" b="0">
                <a:solidFill>
                  <a:srgbClr val="8FA5BD"/>
                </a:solidFill>
              </a:rPr>
              <a:t>Goal Analyzer  ·  Content Parser V2  ·  Plan Generator  ·  Exercise Generator V3  ·  Answer Evaluator  ·  Replanner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DADBE6-AF5C-4E72-83CF-75714B6A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33950"/>
            <a:ext cx="685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A1113B-E3AD-4A2E-8DE1-F751293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292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0c07f0c674574">
            <a:extLst>
              <a:ext uri="{96DAC541-7B7A-43D3-8B79-37D633B846F1}">
                <asvg:svgBlip xmlns:asvg="http://schemas.microsoft.com/office/drawing/2016/SVG/main" r:embed="Rfbddf11fa93b45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1649" y="5112449"/>
            <a:ext cx="195453" cy="195453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15B6D2-9166-4985-AC81-138BE42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57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SQLite Data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45B2A4-86CB-4D72-BCE2-02991A22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95875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Users · Courses · Plans · Tasks · Exercises · Submissions · Mastery · Trace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C45C14-7C98-4C2D-A2FF-6EC0310E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9431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253D">
              <a:alpha val="80000"/>
            </a:srgbClr>
          </a:solidFill>
          <a:ln xmlns:a="http://schemas.openxmlformats.org/drawingml/2006/main" w="11430">
            <a:solidFill>
              <a:srgbClr val="38BDF8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3C333C-5CFD-4EF9-BE0A-6D963C9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527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5c3dcdcc94a43">
            <a:extLst>
              <a:ext uri="{96DAC541-7B7A-43D3-8B79-37D633B846F1}">
                <asvg:svgBlip xmlns:asvg="http://schemas.microsoft.com/office/drawing/2016/SVG/main" r:embed="R363debab08f84a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33876" y="3071051"/>
            <a:ext cx="277749" cy="277749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8813D7-40F0-4EA7-B2E2-8AA45449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909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OpenAI Compatible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ECDC1D-EB51-411D-81F0-F7141178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385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OPTIONAL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54C5ED-7218-4C51-A5FC-0FBDA85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主流程：Gradio → FastAPI → Orchestrator → Tools → SQLite</a:t>
            </a:r>
          </a:p>
        </p:txBody>
      </p:sp>
    </p:spTree>
    <p:extLst>
      <p:ext uri="{BB962C8B-B14F-4D97-AF65-F5344CB8AC3E}">
        <p14:creationId xmlns:p14="http://schemas.microsoft.com/office/powerpoint/2010/main" val="2138236761"/>
      </p:ext>
    </p:extLst>
  </p:cSld>
  <p:transition spd="med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6172B7-FE5B-4A06-9B90-E70F3DE8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744D9-220C-4A6D-83B1-48E0EC85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24613-8FC2-4B94-A549-16291CE3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04 /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A92C4-B608-43B5-A939-318D161A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反馈闭环让每次提交都改变下一轮学习路径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DD27E-C2EE-41B7-99EB-836F0638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Create → Practice → Evaluate → Diagnose → Replan → Continue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78F4C-38A3-4AEC-AB35-9613F089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11D98-CB8D-4FA9-89B8-6551E766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43D1C-ABE7-4AC1-A3D1-50ECA0C0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A60C8-49DA-4723-A552-ACECC2E1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B25FD-79C6-4C53-91A8-86D98950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24003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2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0F0A1-AEF9-4187-A31B-2B22FAF2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24003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2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72B1B-C21D-480A-933A-A59AC51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4003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F83AA-9E7B-44EE-AED4-CB627A37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3124200"/>
            <a:ext cx="209550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9B00C-5BA4-4EAC-9F98-902E94F1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67650" y="45339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7DEA1-32B8-4A84-9725-0C32CCBF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248275" y="45339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31162-AAC3-43B2-ADF7-74E55B24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FC23C-F0E1-4D4A-A791-B57C06C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86225" y="2952750"/>
            <a:ext cx="2095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CA426-FC35-4B18-87D4-051F9AC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FEEDBACK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C6098-B7BF-41CA-B2FA-FA1D76AC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5C403-5EEA-42A9-9C81-AC82AFD2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2362AD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18c5de4f445f5">
            <a:extLst>
              <a:ext uri="{96DAC541-7B7A-43D3-8B79-37D633B846F1}">
                <asvg:svgBlip xmlns:asvg="http://schemas.microsoft.com/office/drawing/2016/SVG/main" r:embed="Rc4e673257a3c48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9335" y="22842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0FE8F-469A-4DB9-AFF5-BA00B8F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193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Create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30506-E0F2-4471-88D4-86D2A3F6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目标 · 日期 · 课程笔记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A84C3-61C3-4230-A4C4-330682D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764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16628-70D5-47A2-A29A-EA5860C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2362AD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78c2da8504bf6">
            <a:extLst>
              <a:ext uri="{96DAC541-7B7A-43D3-8B79-37D633B846F1}">
                <asvg:svgBlip xmlns:asvg="http://schemas.microsoft.com/office/drawing/2016/SVG/main" r:embed="Rb53e2d35d9f14c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8711" y="22842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9A922-74A3-427C-BA30-50A9B86C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193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Generate Tasks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574CE-2DC0-46F9-AE1D-FF94B56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5146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知识点分配到学习日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881FC-9849-44D1-87F4-2D8D84E6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A4ADB-5688-4B8B-B5FA-6756E78F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5cf3139b8420d">
            <a:extLst>
              <a:ext uri="{96DAC541-7B7A-43D3-8B79-37D633B846F1}">
                <asvg:svgBlip xmlns:asvg="http://schemas.microsoft.com/office/drawing/2016/SVG/main" r:embed="Rac3b1f88f66d4b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18086" y="22842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BD50F8-4FA3-4CEA-8A1B-0C71D437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93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Exercise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4B508-47CB-4AC8-A0D2-61B6BC4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146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V3 多题型练习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43CC98-47B8-412D-9172-2DA01B0F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764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4A3B1D-8352-4BC3-A951-045C152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595fbb5fe4d8a">
            <a:extLst>
              <a:ext uri="{96DAC541-7B7A-43D3-8B79-37D633B846F1}">
                <asvg:svgBlip xmlns:asvg="http://schemas.microsoft.com/office/drawing/2016/SVG/main" r:embed="R4ae91ab2672d47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37461" y="22842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5B63F2-CCFD-4AF1-9D39-C8BDC7C4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193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Submit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3C451-2397-48E2-8670-3905A2D5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146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提交真实学习结果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A7F2EC-8A76-4021-B02F-D25DEAD9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00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EF5F0C-F52E-46CC-98FF-F4D334C5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43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238ebbd2f4b8b">
            <a:extLst>
              <a:ext uri="{96DAC541-7B7A-43D3-8B79-37D633B846F1}">
                <asvg:svgBlip xmlns:asvg="http://schemas.microsoft.com/office/drawing/2016/SVG/main" r:embed="R2f755d5c368349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37461" y="44178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8E6F37-B4F5-4723-9E51-50D1A374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529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Evaluate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C0AAFF-F045-43BB-BBE6-9989DA60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6482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正确率与掌握度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EA3458-03EB-4042-8B68-162183C3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FB71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5D31E7-B96F-4C00-93A9-092985C0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B7185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0bf767623474b">
            <a:extLst>
              <a:ext uri="{96DAC541-7B7A-43D3-8B79-37D633B846F1}">
                <asvg:svgBlip xmlns:asvg="http://schemas.microsoft.com/office/drawing/2016/SVG/main" r:embed="R808919545b9744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18086" y="44178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7361CD-8EE5-4E99-8E34-9F62AB02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529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Weak Point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A8BEAE-2E46-4F3B-A6C9-0E73A7BC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482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识别薄弱知识点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7EBF7E-85BA-488C-B550-132ADCF9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100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B685F1-D5CC-4D3F-A436-A6792F2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43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083b5a6364fbb">
            <a:extLst>
              <a:ext uri="{96DAC541-7B7A-43D3-8B79-37D633B846F1}">
                <asvg:svgBlip xmlns:asvg="http://schemas.microsoft.com/office/drawing/2016/SVG/main" r:embed="R38605b093ec64c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8711" y="4417886"/>
            <a:ext cx="174879" cy="174879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4EA045-1B4E-481B-8B4C-23D1040D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529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Replan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3213C9-A9B1-46EB-9E32-92B9F676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482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5BD"/>
                </a:solidFill>
              </a:defRPr>
            </a:pPr>
            <a:r>
              <a:rPr sz="900" b="0">
                <a:solidFill>
                  <a:srgbClr val="8FA5BD"/>
                </a:solidFill>
              </a:rPr>
              <a:t>调整未来未完成任务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C94D11-B8D3-4456-902F-E00E9592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00700"/>
            <a:ext cx="5334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63F">
              <a:alpha val="80000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A8918A-3562-46B1-BB3D-A8BB0108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D399"/>
                </a:solidFill>
              </a:defRPr>
            </a:pPr>
            <a:r>
              <a:rPr sz="1125" b="1">
                <a:solidFill>
                  <a:srgbClr val="34D399"/>
                </a:solidFill>
              </a:rPr>
              <a:t>感知学习结果  →  分析学习状态  →  调整未来计划  →  进入下一学习日</a:t>
            </a:r>
          </a:p>
        </p:txBody>
      </p:sp>
    </p:spTree>
    <p:extLst>
      <p:ext uri="{BB962C8B-B14F-4D97-AF65-F5344CB8AC3E}">
        <p14:creationId xmlns:p14="http://schemas.microsoft.com/office/powerpoint/2010/main" val="59573825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A296B3-849B-41C3-895D-37226569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81701-52D2-4786-8B61-36E10C6D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091E-6D95-4929-BEF3-94938E05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05 /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96C40-31B8-46FB-B4AA-A1C92BD6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六个核心工具，构成可独立测试的 Agent 能力单元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F7525-2E91-47AA-AC03-80F990B2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每个模块只承担一个明确职责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8EED8-0C50-4092-9EA6-3A0303B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51430-051A-47B6-9477-1674D9A9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233D2-C2CF-4663-A609-F2C47C76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32894-1752-42FE-AB03-23A8D6A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3A7F2-4D5B-4890-8DEA-AE0C7479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528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E42AB-EC1E-4C71-82EA-EFCC4BF5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30f541d1b44d0">
            <a:extLst>
              <a:ext uri="{96DAC541-7B7A-43D3-8B79-37D633B846F1}">
                <asvg:svgBlip xmlns:asvg="http://schemas.microsoft.com/office/drawing/2016/SVG/main" r:embed="R50e5e7d3413b41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7082" y="2161032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4E5A0-3C40-4EDD-AC99-7247FBA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76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Plan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A5AFC-1D8E-4C9F-81AD-2276378A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把目标与日期转成每日计划。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CFB4C-ADC2-420D-9EF4-D1FC0713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90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A5338-EF69-4AF8-B89E-7EE093A8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528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269D8-6221-408D-A531-3B98F9EB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f3f46b77a4f54">
            <a:extLst>
              <a:ext uri="{96DAC541-7B7A-43D3-8B79-37D633B846F1}">
                <asvg:svgBlip xmlns:asvg="http://schemas.microsoft.com/office/drawing/2016/SVG/main" r:embed="Re95e8e4c28a94f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94682" y="2161032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87DE2-88B5-4C6B-8BF5-AFA760F8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Exercise Generator V3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EFE08-0B9C-4BE7-9D89-415D405E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生成多题型、去重练习。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3056E-15DA-4979-B331-8E858376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295AF-4AF7-4829-8676-2E9C20D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528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3C8B2-88DF-4718-A253-9493A27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83d6bade54ef8">
            <a:extLst>
              <a:ext uri="{96DAC541-7B7A-43D3-8B79-37D633B846F1}">
                <asvg:svgBlip xmlns:asvg="http://schemas.microsoft.com/office/drawing/2016/SVG/main" r:embed="R42386e9364a349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52282" y="2161032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130AF-E6AD-4EDC-A239-F9B2B700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Answer Evaluator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7FBAF3-FB37-446A-82CB-5ED1C5FD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标准化并评价用户答案。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D592D-D140-41C6-9A8D-DEC181EA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90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4D399"/>
                </a:solidFill>
              </a:defRPr>
            </a:pPr>
            <a:r>
              <a:rPr sz="825" b="1">
                <a:solidFill>
                  <a:srgbClr val="34D399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E60C7-00A2-49C1-BF77-DAE25D8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3528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9D0EE-FC6E-4E5D-838A-8D85F5A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2362AD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b194319c049ee">
            <a:extLst>
              <a:ext uri="{96DAC541-7B7A-43D3-8B79-37D633B846F1}">
                <asvg:svgBlip xmlns:asvg="http://schemas.microsoft.com/office/drawing/2016/SVG/main" r:embed="Rf3a4a9964fb24f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7082" y="4237482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F78B6-3499-455F-B7EC-AF4C0C72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Progress Evaluator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801E0-977A-48EC-907E-B7D8273E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更新知识点掌握度。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60CD59-975C-4A58-9F61-DDC862F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362AD"/>
                </a:solidFill>
              </a:defRPr>
            </a:pPr>
            <a:r>
              <a:rPr sz="825" b="1">
                <a:solidFill>
                  <a:srgbClr val="2362AD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6C2D55-2AE5-412D-8E49-AD3AE912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33528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63901E-DC8B-468D-B8BC-33469563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B7185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ab6c230d84b5b">
            <a:extLst>
              <a:ext uri="{96DAC541-7B7A-43D3-8B79-37D633B846F1}">
                <asvg:svgBlip xmlns:asvg="http://schemas.microsoft.com/office/drawing/2016/SVG/main" r:embed="R32aab7de0b3942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94682" y="4237482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460837-F64E-41C8-8A82-14DF4017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Weak Point Detector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B75420-BA36-4BF2-B57C-2D79894D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33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按阈值识别薄弱知识点。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FE8AA4-761F-4DDB-AF17-9B738FF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B7185"/>
                </a:solidFill>
              </a:defRPr>
            </a:pPr>
            <a:r>
              <a:rPr sz="825" b="1">
                <a:solidFill>
                  <a:srgbClr val="FB7185"/>
                </a:solidFill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68950B-D09F-405C-A0FE-9A3C6A0E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33528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FA91DF-9E93-4BAD-BF39-DE8AD462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444fff31c414f">
            <a:extLst>
              <a:ext uri="{96DAC541-7B7A-43D3-8B79-37D633B846F1}">
                <asvg:svgBlip xmlns:asvg="http://schemas.microsoft.com/office/drawing/2016/SVG/main" r:embed="R3097d2b61d9446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52282" y="4237482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C62A8A-19AB-4D3D-B708-99884758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Replanner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B2CE4-75DA-4EC7-A199-B33D7309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只调整未来未完成任务。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6A96FC-E752-41FF-B604-C1C2A5FC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67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97316"/>
                </a:solidFill>
              </a:defRPr>
            </a:pPr>
            <a:r>
              <a:rPr sz="825" b="1">
                <a:solidFill>
                  <a:srgbClr val="F9731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7188964"/>
      </p:ext>
    </p:extLst>
  </p:cSld>
  <p:transition spd="med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5185D-A111-4850-9BFA-07B2CDB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4EF27-06B0-4F10-8CEE-67D45CD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5ADCA-9488-4EBC-B90C-9424E123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06 /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A5DEF-0D35-4A9B-834E-F2D4F93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默认离线可运行，模型能力按需接入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263B-5209-4436-905D-EA21F151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确定性、兼容性、韧性与可维护性同时成立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F817D-0BD5-44D7-887C-33F2CE1A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44D8E-5959-4A0E-B800-36A27079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FD4EB-9B9D-4746-BAB0-F4B38E3E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7DA80-4C0C-41A7-955C-4F05367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937D8-3CD0-4A94-A07B-1BD5471E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42F50">
              <a:alpha val="90980"/>
            </a:srgbClr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E9712-290F-4F99-96D7-AAD09CEE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8b644720344a8">
            <a:extLst>
              <a:ext uri="{96DAC541-7B7A-43D3-8B79-37D633B846F1}">
                <asvg:svgBlip xmlns:asvg="http://schemas.microsoft.com/office/drawing/2016/SVG/main" r:embed="R175e260a773a4e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6427" y="2250377"/>
            <a:ext cx="318897" cy="31889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63B14-B274-416C-B925-5901341F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526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Rule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AA602-0FBC-4235-B171-04266E70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默认执行路径，结果稳定可复现。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C5BF7-D376-4AC1-8823-9D4A8FD1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79235-1A57-4E6A-BACF-DA96F7F2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c6f61b8484991">
            <a:extLst>
              <a:ext uri="{96DAC541-7B7A-43D3-8B79-37D633B846F1}">
                <asvg:svgBlip xmlns:asvg="http://schemas.microsoft.com/office/drawing/2016/SVG/main" r:embed="R4cfad77c453049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3777" y="2250377"/>
            <a:ext cx="318897" cy="318897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E7DCD-52A3-43B4-A497-CC1F0F3A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OpenAI Compatible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35937-A4D5-4202-9E91-E90FD78A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兼容 /chat/completions，可选启用。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B316A-EE3A-4B7C-9561-72F4C023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B6653-9C00-48C6-9E53-CC230D4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1c2c7f47f4f3b">
            <a:extLst>
              <a:ext uri="{96DAC541-7B7A-43D3-8B79-37D633B846F1}">
                <asvg:svgBlip xmlns:asvg="http://schemas.microsoft.com/office/drawing/2016/SVG/main" r:embed="R494e194c40b148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6427" y="4383977"/>
            <a:ext cx="318897" cy="318897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F5F1F-41FC-4108-8FE9-F10E5386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862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Fallback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453F1-08C6-4E0D-BC58-8B85B2CA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LLM 失败时自动降级，闭环不中断。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44CE3-F04F-4CAC-AA24-5A0DEAA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11430">
            <a:solidFill>
              <a:srgbClr val="FB9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E0E88-7F4A-4706-8177-F921249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B923C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02049447d4cb1">
            <a:extLst>
              <a:ext uri="{96DAC541-7B7A-43D3-8B79-37D633B846F1}">
                <asvg:svgBlip xmlns:asvg="http://schemas.microsoft.com/office/drawing/2016/SVG/main" r:embed="R8affae96436a48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3777" y="4383977"/>
            <a:ext cx="318897" cy="318897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9949D-6452-4D51-95D9-11B988DE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Modular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F831D-5B02-4C0A-A91D-C3C4C3A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244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API、编排、工具与数据清晰分层。</a:t>
            </a:r>
          </a:p>
        </p:txBody>
      </p:sp>
    </p:spTree>
    <p:extLst>
      <p:ext uri="{BB962C8B-B14F-4D97-AF65-F5344CB8AC3E}">
        <p14:creationId xmlns:p14="http://schemas.microsoft.com/office/powerpoint/2010/main" val="288922040"/>
      </p:ext>
    </p:extLst>
  </p:cSld>
  <p:transition spd="med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28FC4-1D36-4A4F-A2B2-CDEDB0A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1FF17-53D3-4883-BB46-0A06232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AC9D0-B58B-4432-ADED-7DA5C45C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07 / PRODUCT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A5982-2C48-4096-BB40-62CAD979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五个真实页面覆盖从规划到反馈的完整体验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C6613-E106-46B2-AC85-46524169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截图全部来自当前 Gradio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E9BA5-64FB-4B70-96B1-3E36301A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5CE04-1B16-40F0-9351-CF9C1F3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B16C4-3A62-4BD2-A07A-6DB50646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4D5C7-1FBD-45A1-8FC9-573B59E1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EEC61-9330-49C6-A56D-2DDE9C9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40A12"/>
          </a:solidFill>
          <a:ln xmlns:a="http://schemas.openxmlformats.org/drawingml/2006/main" w="9525">
            <a:solidFill>
              <a:srgbClr val="3B5E8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2ff6c2d864fa0"/>
          <a:stretch xmlns:a="http://schemas.openxmlformats.org/drawingml/2006/main"/>
        </p:blipFill>
        <p:spPr>
          <a:xfrm xmlns:a="http://schemas.openxmlformats.org/drawingml/2006/main">
            <a:off x="1813047" y="1809750"/>
            <a:ext cx="1079257" cy="150495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8D820-5129-445B-B9C2-DB8C4420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</a:defRPr>
            </a:pPr>
            <a:r>
              <a:rPr sz="900" b="1">
                <a:solidFill>
                  <a:srgbClr val="F8FAFC"/>
                </a:solidFill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2AA51-F890-43E5-AC14-3EDC3708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3333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40A12"/>
          </a:solidFill>
          <a:ln xmlns:a="http://schemas.openxmlformats.org/drawingml/2006/main" w="9525">
            <a:solidFill>
              <a:srgbClr val="3B5E8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1c6e6b84e4a28"/>
          <a:stretch xmlns:a="http://schemas.openxmlformats.org/drawingml/2006/main"/>
        </p:blipFill>
        <p:spPr>
          <a:xfrm xmlns:a="http://schemas.openxmlformats.org/drawingml/2006/main">
            <a:off x="4636532" y="1809750"/>
            <a:ext cx="2918935" cy="150495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BDEE0-70A1-4FF0-82C4-E245B030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6690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</a:defRPr>
            </a:pPr>
            <a:r>
              <a:rPr sz="900" b="1">
                <a:solidFill>
                  <a:srgbClr val="F8FAFC"/>
                </a:solidFill>
              </a:rPr>
              <a:t>CREATE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A695-02D3-48DE-8352-E72F1358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33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40A12"/>
          </a:solidFill>
          <a:ln xmlns:a="http://schemas.openxmlformats.org/drawingml/2006/main" w="9525">
            <a:solidFill>
              <a:srgbClr val="3B5E8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3c899235c480a"/>
          <a:stretch xmlns:a="http://schemas.openxmlformats.org/drawingml/2006/main"/>
        </p:blipFill>
        <p:spPr>
          <a:xfrm xmlns:a="http://schemas.openxmlformats.org/drawingml/2006/main">
            <a:off x="8365006" y="1809750"/>
            <a:ext cx="2948639" cy="150495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9F447-E96F-49CD-A3D3-D5734B9A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</a:defRPr>
            </a:pPr>
            <a:r>
              <a:rPr sz="900" b="1">
                <a:solidFill>
                  <a:srgbClr val="F8FAFC"/>
                </a:solidFill>
              </a:rPr>
              <a:t>TODAY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0DC78-9A32-472E-B981-9951F5E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90950"/>
            <a:ext cx="3333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40A12"/>
          </a:solidFill>
          <a:ln xmlns:a="http://schemas.openxmlformats.org/drawingml/2006/main" w="9525">
            <a:solidFill>
              <a:srgbClr val="3B5E8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64638d6ec410c"/>
          <a:stretch xmlns:a="http://schemas.openxmlformats.org/drawingml/2006/main"/>
        </p:blipFill>
        <p:spPr>
          <a:xfrm xmlns:a="http://schemas.openxmlformats.org/drawingml/2006/main">
            <a:off x="2756397" y="3867150"/>
            <a:ext cx="2926355" cy="150495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EA47B-CEC0-436F-84FE-17F01E34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2430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</a:defRPr>
            </a:pPr>
            <a:r>
              <a:rPr sz="900" b="1">
                <a:solidFill>
                  <a:srgbClr val="F8FAFC"/>
                </a:solidFill>
              </a:rPr>
              <a:t>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4845E-A1D1-4A9F-9401-7CA198DE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3333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40A12"/>
          </a:solidFill>
          <a:ln xmlns:a="http://schemas.openxmlformats.org/drawingml/2006/main" w="9525">
            <a:solidFill>
              <a:srgbClr val="3B5E8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caecb766f4799"/>
          <a:stretch xmlns:a="http://schemas.openxmlformats.org/drawingml/2006/main"/>
        </p:blipFill>
        <p:spPr>
          <a:xfrm xmlns:a="http://schemas.openxmlformats.org/drawingml/2006/main">
            <a:off x="6516995" y="3867150"/>
            <a:ext cx="2910860" cy="150495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D75B4-9E39-4F4A-B337-BA5F7C80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</a:defRPr>
            </a:pPr>
            <a:r>
              <a:rPr sz="900" b="1">
                <a:solidFill>
                  <a:srgbClr val="F8FAFC"/>
                </a:solidFill>
              </a:rPr>
              <a:t>AGENT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A637D-D7AE-4798-9294-806611D6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715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464EB-9705-46B9-9014-25C46F6E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715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LEARN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47369-5F54-4A76-9E14-403ACA9C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15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D399"/>
                </a:solidFill>
              </a:defRPr>
            </a:pPr>
            <a:r>
              <a:rPr sz="900" b="1">
                <a:solidFill>
                  <a:srgbClr val="34D399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2037094220"/>
      </p:ext>
    </p:extLst>
  </p:cSld>
  <p:transition spd="med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D2D643-5035-4744-909A-F4A7A7B3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DA35B-57FA-4ACB-8FED-195830D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32FC6-703B-41BC-9B01-7ABB5728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08 / OBSERVABILITY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60D61-F4BD-44B4-99AB-70B4DCFD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Agent Trace 将每次决策变成可审查的执行链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ADE81-B317-44F0-A22F-1F6C1E2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Decision Chain：工具、模式、状态与耗时均可追踪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940C2-FC4E-46D0-A6A3-5CD8A1FE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DE556-5560-434C-8BEE-0F2E4DDE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0867B-FF09-45CE-838B-6AAC9A37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4F53A-3FA9-44B8-B333-8B0E5CDD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C9F6B-6289-43A4-A6BE-BDC059EE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145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62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1CDCA-DCCB-4EDA-A468-21A8641B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7d425f6e54a17">
            <a:extLst>
              <a:ext uri="{96DAC541-7B7A-43D3-8B79-37D633B846F1}">
                <asvg:svgBlip xmlns:asvg="http://schemas.microsoft.com/office/drawing/2016/SVG/main" r:embed="R3f2d45adff404e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9653" y="2134553"/>
            <a:ext cx="360045" cy="36004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019D5-42BA-41E4-B89C-68A2971E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1C97B-9CD1-47D3-B0D1-9137B7E8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2228850"/>
            <a:ext cx="1257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1EB16-A7DA-4614-8E4C-84312DED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2362AD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660cf146b4232">
            <a:extLst>
              <a:ext uri="{96DAC541-7B7A-43D3-8B79-37D633B846F1}">
                <asvg:svgBlip xmlns:asvg="http://schemas.microsoft.com/office/drawing/2016/SVG/main" r:embed="R18e207e1061a40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96603" y="2134553"/>
            <a:ext cx="360045" cy="36004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D63C9-C004-45D7-8C41-6D5AAC72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Exercise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D937C-850A-4525-AF64-7E5B3CE1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2228850"/>
            <a:ext cx="1257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2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BB741-09A4-4D9E-AA03-C7868E8A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09b8e01fc4be5">
            <a:extLst>
              <a:ext uri="{96DAC541-7B7A-43D3-8B79-37D633B846F1}">
                <asvg:svgBlip xmlns:asvg="http://schemas.microsoft.com/office/drawing/2016/SVG/main" r:embed="R104f141547cc4a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63553" y="2134553"/>
            <a:ext cx="360045" cy="36004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90B61-3F69-41A5-9BE8-C80B67EF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Answer 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EF6E4-9320-494A-8D3F-C29CFD14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228850"/>
            <a:ext cx="1257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2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1D245-982A-4833-8CC1-0A3EDB07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B7185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a7055ab6b4992">
            <a:extLst>
              <a:ext uri="{96DAC541-7B7A-43D3-8B79-37D633B846F1}">
                <asvg:svgBlip xmlns:asvg="http://schemas.microsoft.com/office/drawing/2016/SVG/main" r:embed="R1a63728e534b4b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30503" y="2134553"/>
            <a:ext cx="360045" cy="36004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A3C4C-6F00-4AA4-9793-A9A6152D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Weak 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A4BEB-C579-4592-8EA8-69162C7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2228850"/>
            <a:ext cx="1257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2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4B199-9FD4-4F6E-8B52-1482EBB2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812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9dee6fd7c4472">
            <a:extLst>
              <a:ext uri="{96DAC541-7B7A-43D3-8B79-37D633B846F1}">
                <asvg:svgBlip xmlns:asvg="http://schemas.microsoft.com/office/drawing/2016/SVG/main" r:embed="R7c43d22fe6544c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7453" y="2134553"/>
            <a:ext cx="360045" cy="36004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DBF4A-A5F3-44E7-BE83-B9CD9D2D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Replanner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338518-1612-423E-B6D4-0BB3E6D9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573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97316">
                <a:alpha val="53333"/>
              </a:srgbClr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c8e5717e94c04">
            <a:extLst>
              <a:ext uri="{96DAC541-7B7A-43D3-8B79-37D633B846F1}">
                <asvg:svgBlip xmlns:asvg="http://schemas.microsoft.com/office/drawing/2016/SVG/main" r:embed="R3802cdc5952247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0" y="17430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B7FA2B-2D4E-4902-8A34-305DC44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335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DECISION CHAIN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BDB88-6E15-4A40-B691-42488301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7823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40A12"/>
          </a:solidFill>
          <a:ln xmlns:a="http://schemas.openxmlformats.org/drawingml/2006/main" w="9525">
            <a:solidFill>
              <a:srgbClr val="3B5E8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ca72309304e74"/>
          <a:srcRect xmlns:a="http://schemas.openxmlformats.org/drawingml/2006/main" l="0" t="27469" r="0" b="27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52800"/>
            <a:ext cx="10629900" cy="2476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D703F-0371-47E0-874A-09CDB621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</a:defRPr>
            </a:pPr>
            <a:r>
              <a:rPr sz="900" b="1">
                <a:solidFill>
                  <a:srgbClr val="F8FAFC"/>
                </a:solidFill>
              </a:rPr>
              <a:t>REAL TRACE 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1E061-A295-45AF-A61C-800C1F9E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95900"/>
            <a:ext cx="3048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D31">
              <a:alpha val="9098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47574E-FDC3-4F26-9A80-2048FC87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006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B923C"/>
                </a:solidFill>
              </a:defRPr>
            </a:pPr>
            <a:r>
              <a:rPr sz="975" b="1">
                <a:solidFill>
                  <a:srgbClr val="FB923C"/>
                </a:solidFill>
              </a:rPr>
              <a:t>rule  ·  success  ·  duration_ms</a:t>
            </a:r>
          </a:p>
        </p:txBody>
      </p:sp>
    </p:spTree>
    <p:extLst>
      <p:ext uri="{BB962C8B-B14F-4D97-AF65-F5344CB8AC3E}">
        <p14:creationId xmlns:p14="http://schemas.microsoft.com/office/powerpoint/2010/main" val="472473832"/>
      </p:ext>
    </p:extLst>
  </p:cSld>
  <p:transition spd="med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3A486A-C06B-4233-B9BB-9EB31E31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90205-5DF8-45A8-BC15-641CCB9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239C8-18D8-421F-9A05-F6BE14E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09 /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D1663-8630-4740-AC93-0D6EF85E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182 项默认测试，为完整学习闭环提供回归保障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09C45-B97C-4730-A40C-D4BFFAD8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live_llm 为真实联网测试，默认排除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A98AB-847D-4A37-AF37-9D62D98A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1FF44-70EE-45BE-A71F-4BC435CA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D81CB-E4AE-4CDF-8FFC-98924C1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FCD3E-FE4A-4E12-A7BE-B47EDAB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359AF-7FBB-44D4-908E-17418F06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97316"/>
                </a:solidFill>
              </a:defRPr>
            </a:pPr>
            <a:r>
              <a:rPr sz="7800" b="1">
                <a:solidFill>
                  <a:srgbClr val="F97316"/>
                </a:solidFill>
              </a:rPr>
              <a:t>182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C7F9F-A435-4D5C-BC09-4DEFEE07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D399"/>
                </a:solidFill>
              </a:defRPr>
            </a:pPr>
            <a:r>
              <a:rPr sz="1875" b="1">
                <a:solidFill>
                  <a:srgbClr val="34D399"/>
                </a:solidFill>
              </a:rPr>
              <a:t>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7A995-80AA-4AA9-AB3D-4D91A0AF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A5BD"/>
                </a:solidFill>
              </a:defRPr>
            </a:pPr>
            <a:r>
              <a:rPr sz="1350" b="1">
                <a:solidFill>
                  <a:srgbClr val="8FA5BD"/>
                </a:solidFill>
              </a:rPr>
              <a:t>1 deselected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5C6D8-7EBD-4E65-89FF-5D42052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2956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30811"/>
          </a:solidFill>
          <a:ln xmlns:a="http://schemas.openxmlformats.org/drawingml/2006/main" w="9525">
            <a:solidFill>
              <a:srgbClr val="2F46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6CDF3-3ADF-4CE0-9571-8F959A7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281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BDF8"/>
                </a:solidFill>
              </a:defRPr>
            </a:pPr>
            <a:r>
              <a:rPr sz="1125" b="0">
                <a:solidFill>
                  <a:srgbClr val="38BDF8"/>
                </a:solidFill>
              </a:rPr>
              <a:t>&gt; python -m pytest -q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8D56A-6557-4D26-93F4-C8026CE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</a:defRPr>
            </a:pPr>
            <a:r>
              <a:rPr sz="1350" b="1">
                <a:solidFill>
                  <a:srgbClr val="34D399"/>
                </a:solidFill>
              </a:rPr>
              <a:t>182 passed, 1 deselected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D46F4-4C7E-43F6-A244-B9D926E9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68961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29456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0801D-D4F9-47BB-94B2-82B3237E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14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TEST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BC078-6150-4683-BA01-CA303C8F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858bce705402e">
            <a:extLst>
              <a:ext uri="{96DAC541-7B7A-43D3-8B79-37D633B846F1}">
                <asvg:svgBlip xmlns:asvg="http://schemas.microsoft.com/office/drawing/2016/SVG/main" r:embed="R08966e95e26d4a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64062" y="2797112"/>
            <a:ext cx="216027" cy="216027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860B9-BA80-443F-AF53-9BB9F3A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908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7F3"/>
                </a:solidFill>
              </a:defRPr>
            </a:pPr>
            <a:r>
              <a:rPr sz="1275" b="1">
                <a:solidFill>
                  <a:srgbClr val="DCE7F3"/>
                </a:solidFill>
              </a:rPr>
              <a:t>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C3E71-8B26-4EEA-AD76-861EA6E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7fc9778e14ff3">
            <a:extLst>
              <a:ext uri="{96DAC541-7B7A-43D3-8B79-37D633B846F1}">
                <asvg:svgBlip xmlns:asvg="http://schemas.microsoft.com/office/drawing/2016/SVG/main" r:embed="R0e73974655d341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8262" y="2797112"/>
            <a:ext cx="216027" cy="216027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5B82A-C738-459B-B489-1B5D0E8E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908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7F3"/>
                </a:solidFill>
              </a:defRPr>
            </a:pPr>
            <a:r>
              <a:rPr sz="1275" b="1">
                <a:solidFill>
                  <a:srgbClr val="DCE7F3"/>
                </a:solidFill>
              </a:rPr>
              <a:t>Exercise Generator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B4EFE-E3CA-457B-A4C1-9EF3E0C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052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6334ce3444c3a">
            <a:extLst>
              <a:ext uri="{96DAC541-7B7A-43D3-8B79-37D633B846F1}">
                <asvg:svgBlip xmlns:asvg="http://schemas.microsoft.com/office/drawing/2016/SVG/main" r:embed="Ra6d5533257fd41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64062" y="3597212"/>
            <a:ext cx="216027" cy="216027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E7E13-35E5-48D8-8E8D-858BD83B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909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7F3"/>
                </a:solidFill>
              </a:defRPr>
            </a:pPr>
            <a:r>
              <a:rPr sz="1275" b="1">
                <a:solidFill>
                  <a:srgbClr val="DCE7F3"/>
                </a:solidFill>
              </a:rPr>
              <a:t>Answer Evaluator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9454B-6B22-4BAC-83FC-07467DE2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a4003defb4469">
            <a:extLst>
              <a:ext uri="{96DAC541-7B7A-43D3-8B79-37D633B846F1}">
                <asvg:svgBlip xmlns:asvg="http://schemas.microsoft.com/office/drawing/2016/SVG/main" r:embed="R648f333d9fc44c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8262" y="3597212"/>
            <a:ext cx="216027" cy="216027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CBA234-8D0A-4668-BA89-66F4C6B5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909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7F3"/>
                </a:solidFill>
              </a:defRPr>
            </a:pPr>
            <a:r>
              <a:rPr sz="1275" b="1">
                <a:solidFill>
                  <a:srgbClr val="DCE7F3"/>
                </a:solidFill>
              </a:rPr>
              <a:t>Submission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434D49-8C31-4E6B-BD18-CDF9BBD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78cf8cfdd40c9">
            <a:extLst>
              <a:ext uri="{96DAC541-7B7A-43D3-8B79-37D633B846F1}">
                <asvg:svgBlip xmlns:asvg="http://schemas.microsoft.com/office/drawing/2016/SVG/main" r:embed="Rcc1f24da37254c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64062" y="4397312"/>
            <a:ext cx="216027" cy="216027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6A1F7-549C-4D75-9984-21FB3F26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91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7F3"/>
                </a:solidFill>
              </a:defRPr>
            </a:pPr>
            <a:r>
              <a:rPr sz="1275" b="1">
                <a:solidFill>
                  <a:srgbClr val="DCE7F3"/>
                </a:solidFill>
              </a:rPr>
              <a:t>Progress Evaluation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E7F96-27ED-4768-B388-85780BE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eed1dc8c5464e">
            <a:extLst>
              <a:ext uri="{96DAC541-7B7A-43D3-8B79-37D633B846F1}">
                <asvg:svgBlip xmlns:asvg="http://schemas.microsoft.com/office/drawing/2016/SVG/main" r:embed="R8d726f365dfd44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8262" y="4397312"/>
            <a:ext cx="216027" cy="216027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14E10-0EE7-41B0-BE4F-05B8DD15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91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7F3"/>
                </a:solidFill>
              </a:defRPr>
            </a:pPr>
            <a:r>
              <a:rPr sz="1275" b="1">
                <a:solidFill>
                  <a:srgbClr val="DCE7F3"/>
                </a:solidFill>
              </a:rPr>
              <a:t>LLM Compatibility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CE7A9D-311B-4EF3-B7B0-53393901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816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FA5BD"/>
                </a:solidFill>
              </a:defRPr>
            </a:pPr>
            <a:r>
              <a:rPr sz="900" b="1">
                <a:solidFill>
                  <a:srgbClr val="8FA5BD"/>
                </a:solidFill>
              </a:rPr>
              <a:t>DEFAULT SUITE · NO LIVE NETWORK CALL</a:t>
            </a:r>
          </a:p>
        </p:txBody>
      </p:sp>
    </p:spTree>
    <p:extLst>
      <p:ext uri="{BB962C8B-B14F-4D97-AF65-F5344CB8AC3E}">
        <p14:creationId xmlns:p14="http://schemas.microsoft.com/office/powerpoint/2010/main" val="1022994354"/>
      </p:ext>
    </p:extLst>
  </p:cSld>
  <p:transition spd="med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D8FD81-59A8-456B-9EDB-CB380EFB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79195-43B1-4AA9-AB51-497338D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EFD28-9DE5-4ACD-A064-8D1CFA00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10 / HIGHLIGHTS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6AEB8-1513-46F3-B211-39D8D337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项目价值来自闭环机制与工程完整性的结合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505DB-06F6-4697-BA0F-EE8CB71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产品决策、Agent 工作流与软件架构共同成立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AD5C7-AB80-4908-8B67-DE62923F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1CE3E-ED99-4FC9-93CA-B836427F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03299-4143-4611-84BB-F23DA000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21A84-30CC-498D-AF93-97EC34A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515A2-169F-4E43-8BFD-71026C49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91E4E-6566-4D4A-81D0-94F73B4C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b0ca381c5404f">
            <a:extLst>
              <a:ext uri="{96DAC541-7B7A-43D3-8B79-37D633B846F1}">
                <asvg:svgBlip xmlns:asvg="http://schemas.microsoft.com/office/drawing/2016/SVG/main" r:embed="Rb7d9bf028c594e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6714" y="2279714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524CF-DB15-4BF6-B95D-1758B80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主动学习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F8A2A-B4BE-419E-B5DF-2CCB8BFC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学习结果决定下一步，而不是只展示静态内容。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9BE5F-EEE9-4DCA-8B50-1529690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9CD6D-E133-4C41-9BB3-DC453AD4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5fcbfca144921">
            <a:extLst>
              <a:ext uri="{96DAC541-7B7A-43D3-8B79-37D633B846F1}">
                <asvg:svgBlip xmlns:asvg="http://schemas.microsoft.com/office/drawing/2016/SVG/main" r:embed="R45e5d1fcc6ee44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04064" y="2279714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77177-8C5B-4D3F-92D7-1D00457F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动态规划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24197-7B8F-45AD-9DB4-DC11DF96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薄弱点触发后，只调整未来未完成任务。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E1954-ADFF-443F-9836-8164CE9E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81ABE-8AF4-4499-BADD-F112D7CD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58db6591f46e4">
            <a:extLst>
              <a:ext uri="{96DAC541-7B7A-43D3-8B79-37D633B846F1}">
                <asvg:svgBlip xmlns:asvg="http://schemas.microsoft.com/office/drawing/2016/SVG/main" r:embed="R8705d01ec2bf4f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6714" y="4413314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097A5-78EF-422B-BB2A-A34BFAE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05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Agent 工作流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62E20-C2D7-4569-942C-9516BBF5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规划、练习、评价、诊断与重规划连续执行。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E5428-CC73-4763-8A45-49E4AE26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143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928B6-9F72-4F02-8806-3F83F655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B923C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f317c91a14a4f">
            <a:extLst>
              <a:ext uri="{96DAC541-7B7A-43D3-8B79-37D633B846F1}">
                <asvg:svgBlip xmlns:asvg="http://schemas.microsoft.com/office/drawing/2016/SVG/main" r:embed="R229c71ce8ab944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04064" y="4413314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66183-B019-4835-B631-4A9BCFC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模块化设计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A46EA-3F4E-4F50-87C3-7C328426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Rule 与 LLM 共享 Schema、校验和回退机制。</a:t>
            </a:r>
          </a:p>
        </p:txBody>
      </p:sp>
    </p:spTree>
    <p:extLst>
      <p:ext uri="{BB962C8B-B14F-4D97-AF65-F5344CB8AC3E}">
        <p14:creationId xmlns:p14="http://schemas.microsoft.com/office/powerpoint/2010/main" val="304575589"/>
      </p:ext>
    </p:extLst>
  </p:cSld>
  <p:transition spd="med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A9FAD9-85E0-4446-82AA-FFDFE092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F342E-8067-45FC-8B78-0A314C9F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02BFC-29D1-4C84-999E-868BE062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11 /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58E4D-7BA1-4CF8-B74E-9CC843B1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v1.0 验证学习闭环，下一阶段扩展知识与部署能力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9D6BF-B0F0-4E82-9E62-796B8693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未来能力均为规划，不作为当前已交付功能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1C889-6F32-42C2-8642-F9FAE570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B78BF-0BF9-443E-A263-98C1BDDD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363AF-0F7A-4656-95EE-E5167A43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A940A-4597-42E3-B76A-7FCC3146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83135-E0C4-427C-A4F8-B002AA85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62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D640C-E897-4205-BE5C-D5E8BF3F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B923C"/>
                </a:solidFill>
              </a:defRPr>
            </a:pPr>
            <a:r>
              <a:rPr sz="1650" b="1">
                <a:solidFill>
                  <a:srgbClr val="FB923C"/>
                </a:solidFill>
              </a:rPr>
              <a:t>v1.0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F7C76-2A81-4136-A291-DF6DDC65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8FA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7457f3774dbb">
            <a:extLst>
              <a:ext uri="{96DAC541-7B7A-43D3-8B79-37D633B846F1}">
                <asvg:svgBlip xmlns:asvg="http://schemas.microsoft.com/office/drawing/2016/SVG/main" r:embed="R2bc0739017f84a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52575" y="33718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0DFF9-8998-439C-8BD0-59BA7549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Rule Agent</a:t>
            </a:r>
          </a:p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Learning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AF020-D3F9-4FC3-A527-FB73D2FC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92C66-79B3-4A19-8A54-4C87557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AD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F66E9-5A4D-46A3-8EFC-69EA156F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52631-4443-418D-93B5-752DD62D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719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真实模型</a:t>
            </a:r>
          </a:p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接入评估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DC785-9482-4C7C-A23C-4AB545BA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BBDE4-74CD-4570-8FD2-6170BDD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AD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2531F-BC1C-49DE-AA46-E96CF0A0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33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5E4AE-D63A-43B8-ACCF-6D95A16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文档学习</a:t>
            </a:r>
          </a:p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内容解析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61FA0-E797-4AF5-80B7-1BEC5776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822C5-1064-4635-B509-8BB61BD0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98539-2F89-491A-8642-B3797218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E3DAF-083A-4BEC-9836-B939DA43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知识检索</a:t>
            </a:r>
          </a:p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增强生成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856257-78E2-42A8-93D7-ABF13B99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Multi-Agent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C6927-8070-4A49-BF6B-017423EB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E4DC9-E721-463D-A94F-CFE7AB69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B08340-5188-4EE8-9972-287125F2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角色协作</a:t>
            </a:r>
          </a:p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任务分工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015B1-115D-4101-9CF4-910B82D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Cloud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79A43-C426-432E-B7D2-7223C91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5D600-D3F3-4198-92F7-7F8D87A3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3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B666A4-18AB-4A0C-AE64-6512D695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719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在线部署</a:t>
            </a:r>
          </a:p>
          <a:p xmlns:a="http://schemas.openxmlformats.org/drawingml/2006/main">
            <a:pPr algn="ctr">
              <a:defRPr sz="1200" b="0">
                <a:solidFill>
                  <a:srgbClr val="8FA5BD"/>
                </a:solidFill>
              </a:defRPr>
            </a:pPr>
            <a:r>
              <a:rPr sz="1200" b="0">
                <a:solidFill>
                  <a:srgbClr val="8FA5BD"/>
                </a:solidFill>
              </a:rPr>
              <a:t>持续服务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210EE2-2471-4B29-BECD-9763AE81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F97316">
                <a:alpha val="53333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78F1C-2D68-4819-AF11-FDC4C7D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NOW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AE3CB8-BE94-41DB-8B1E-A1EFE9C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054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56F0E9-A70D-4567-8897-2F60B72A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816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1824621699"/>
      </p:ext>
    </p:extLst>
  </p:cSld>
  <p:transition spd="med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A0E1AE-C931-4C9C-B450-3F21FE9D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3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87B46-F813-4E23-B57B-8885886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BF9FC-D85E-4ABF-9F7F-F22B60EC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12 /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B90DC-AD70-4039-8042-617B43A8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完整闭环，让学习助手从功能集合升级为持续决策系统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F26B6-2FF4-4D58-B6C7-A7EF22B4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BD"/>
                </a:solidFill>
              </a:defRPr>
            </a:pPr>
            <a:r>
              <a:rPr sz="1275" b="0">
                <a:solidFill>
                  <a:srgbClr val="8FA5BD"/>
                </a:solidFill>
              </a:rPr>
              <a:t>规划、评价与重规划共享同一份真实学习状态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431E3-FFE9-4C2B-9746-FE4478ED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5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2F464-CF7C-4BCE-907A-EF74392B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3C179-7550-4D95-9EAC-E4AB167A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UNIVERSITY LEARNING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116C0-5139-417F-94D9-49BE1D56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58D"/>
                </a:solidFill>
              </a:defRPr>
            </a:pPr>
            <a:r>
              <a:rPr sz="750" b="1">
                <a:solidFill>
                  <a:srgbClr val="60758D"/>
                </a:solidFill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FB87E-BDE8-43E2-AE44-EF0C4F82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07442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2B4A">
              <a:alpha val="90980"/>
            </a:srgbClr>
          </a:solidFill>
          <a:ln xmlns:a="http://schemas.openxmlformats.org/drawingml/2006/main" w="11430">
            <a:solidFill>
              <a:srgbClr val="2362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CFCF2-5C74-4186-8666-0B3AA60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975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本项目实现了从学习规划、学习评价到动态重规划的完整 Agent 闭环，为个性化学习提供了一套可扩展的软件架构。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8F73B-0801-4884-88EF-2890F4F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FFFFF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996f4bde74a25"/>
          <a:stretch xmlns:a="http://schemas.openxmlformats.org/drawingml/2006/main"/>
        </p:blipFill>
        <p:spPr>
          <a:xfrm xmlns:a="http://schemas.openxmlformats.org/drawingml/2006/main">
            <a:off x="1409700" y="3946266"/>
            <a:ext cx="285750" cy="27991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71A19-5B82-4C77-9EA6-EC30E21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GitHub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01A2E-A90A-488D-B2E9-0E52E36A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7C45B-24BB-4CCD-9824-CB3DD874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97316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9e45fd3974444">
            <a:extLst>
              <a:ext uri="{96DAC541-7B7A-43D3-8B79-37D633B846F1}">
                <asvg:svgBlip xmlns:asvg="http://schemas.microsoft.com/office/drawing/2016/SVG/main" r:embed="R01df9098055644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3163" y="3937063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8DD73-A1BA-46F3-98EA-0FE638E8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339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Repository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F6AFD-E638-4F25-BD39-2473190C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14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learning-assistant-agent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DB78A-91FC-4B6E-BC63-AFC006E6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00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692fcf32a4524">
            <a:extLst>
              <a:ext uri="{96DAC541-7B7A-43D3-8B79-37D633B846F1}">
                <asvg:svgBlip xmlns:asvg="http://schemas.microsoft.com/office/drawing/2016/SVG/main" r:embed="R47a3076ca4ca44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22914" y="3937063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3A698-40A9-492E-8C93-F3BB3CB3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339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2881B-28F7-475F-8956-C12D4EF7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14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v1.1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92D2C-AC18-413E-BEDF-EF45B131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4D399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e5f61c6864669">
            <a:extLst>
              <a:ext uri="{96DAC541-7B7A-43D3-8B79-37D633B846F1}">
                <asvg:svgBlip xmlns:asvg="http://schemas.microsoft.com/office/drawing/2016/SVG/main" r:embed="Rea58790dee584d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2664" y="3937063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467FD-2DA6-4643-AF13-AB8301D0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339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182 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0EAFFD-770B-4D3D-8FC0-83F4F603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passed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8389B4-B292-4575-B86C-E007EA72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FB923C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cdc5702264a00">
            <a:extLst>
              <a:ext uri="{96DAC541-7B7A-43D3-8B79-37D633B846F1}">
                <asvg:svgBlip xmlns:asvg="http://schemas.microsoft.com/office/drawing/2016/SVG/main" r:embed="Rd02cc5a197b345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42414" y="3937063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4B3454-DE79-45A6-B24B-F7B31EDF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339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625EF-E47F-499E-B9DA-83DD57D2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产品级演示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2D1EB-8855-4443-A8E8-A577D34E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100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C1B2E">
              <a:alpha val="85098"/>
            </a:srgbClr>
          </a:solidFill>
          <a:ln xmlns:a="http://schemas.openxmlformats.org/drawingml/2006/main" w="9525">
            <a:solidFill>
              <a:srgbClr val="38BDF8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f9d8366384db7">
            <a:extLst>
              <a:ext uri="{96DAC541-7B7A-43D3-8B79-37D633B846F1}">
                <asvg:svgBlip xmlns:asvg="http://schemas.microsoft.com/office/drawing/2016/SVG/main" r:embed="R8bb24634f97a40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52164" y="3937063"/>
            <a:ext cx="298323" cy="298323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8FD58E-C8AC-4FDC-A27F-60E73BE9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339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Learning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445D45-26A9-4A62-B626-8D685C1B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149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A5BD"/>
                </a:solidFill>
              </a:defRPr>
            </a:pPr>
            <a:r>
              <a:rPr sz="975" b="0">
                <a:solidFill>
                  <a:srgbClr val="8FA5BD"/>
                </a:solidFill>
              </a:rPr>
              <a:t>Plan → Replan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18DA6B-E2BF-4B78-8BFC-54EFAF60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29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PLAN  →  PRACTICE  →  EVALUATE  →  REPLAN</a:t>
            </a:r>
          </a:p>
        </p:txBody>
      </p:sp>
    </p:spTree>
    <p:extLst>
      <p:ext uri="{BB962C8B-B14F-4D97-AF65-F5344CB8AC3E}">
        <p14:creationId xmlns:p14="http://schemas.microsoft.com/office/powerpoint/2010/main" val="1922063896"/>
      </p:ext>
    </p:extLst>
  </p:cSld>
  <p:transition spd="med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C67E7E-14AF-480E-A82B-2F0773E8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E54CB-DD2D-4B58-96DD-A7B757CC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14492-4D01-401D-9169-8C904412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51D29-EE31-4C40-BCC1-BCF862C5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00BC6-AB0E-443A-BEE6-8919F4E6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8F94D-3B97-454C-A3A0-80D0BD76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DCB88-321A-4B6C-A207-DBD982F6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3F76D-2271-46FB-98AD-BAD1F9FB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15B44-DC89-4896-96FA-3003E0B3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6D9FF-C9BF-4133-9F69-BC98225E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FA646-C05F-4D41-9DBE-AEF153CE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2A083-4D42-4E0F-95BE-9099DD1A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11F44-0CCF-447F-87D8-600470EF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575F9-CE1D-4A69-B5E1-97CB8C2B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18517-2197-4EF3-A5DE-79DBA9FF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CF9DE-31E3-48B1-B29D-B24142B9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37764-98CA-451C-8527-311FE466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E47D0-E262-4517-A353-1782599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4AD11-29F1-4199-AB36-B0D12EFC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6FB6D-368F-4E87-B81B-7DC01AAF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07115-9F25-4A39-9ECA-E59DC913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D75C0-EF20-4DDB-A343-DDA7E834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C73FE-711B-4296-BCA4-1265D99E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42FF8-C581-41D3-A1A1-F54F9C5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5BBEE-A989-45E7-88F5-C524471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2B671-EE67-4B9E-9C81-34C50E58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CC769-BB32-4400-B277-5DE01B0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0CBE3-F83C-42E2-B948-FFA58EA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A5ABA5-1899-482D-B89F-56CCF12B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590B0-A003-4AC3-8117-CD74B37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57E04-BE83-43BE-B0AE-8D593886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8B62DE-A77C-4A53-B15E-8E9C9C49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04A">
                <a:alpha val="4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0ADC8C-D7EE-4DFF-B632-A0692EC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4D8E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26B6D-6A60-4414-B2A4-406845C0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428750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E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BA1C8-4306-4B67-8F75-9A5ED42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906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2A46">
              <a:alpha val="85098"/>
            </a:srgbClr>
          </a:solidFill>
          <a:ln xmlns:a="http://schemas.openxmlformats.org/drawingml/2006/main" w="9525">
            <a:solidFill>
              <a:srgbClr val="FFFFFF">
                <a:alpha val="4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a63be900f492d"/>
          <a:stretch xmlns:a="http://schemas.openxmlformats.org/drawingml/2006/main"/>
        </p:blipFill>
        <p:spPr>
          <a:xfrm xmlns:a="http://schemas.openxmlformats.org/drawingml/2006/main">
            <a:off x="5857875" y="1176435"/>
            <a:ext cx="476250" cy="466531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397E60-03A7-4B51-99B1-80A79E9C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479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THANK YOU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97E293-7677-49F3-8299-27A0973A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B923C"/>
                </a:solidFill>
              </a:defRPr>
            </a:pPr>
            <a:r>
              <a:rPr sz="2400" b="1">
                <a:solidFill>
                  <a:srgbClr val="FB923C"/>
                </a:solidFill>
              </a:rPr>
              <a:t>Q &amp; 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0732C2-9D8B-4570-9721-3AE0071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大学生学习助手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98DCA-A0F1-48CB-89A2-6E332AB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9">
              <a:alpha val="90980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3b50e99f24c96">
            <a:extLst>
              <a:ext uri="{96DAC541-7B7A-43D3-8B79-37D633B846F1}">
                <asvg:svgBlip xmlns:asvg="http://schemas.microsoft.com/office/drawing/2016/SVG/main" r:embed="Rf7add193555a47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14800" y="47910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5E2FC9-BE40-41CD-809C-2716F05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81550"/>
            <a:ext cx="3790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Repository  ·  learning-assistant-agent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E0C164-EA39-4213-9941-117CE5F1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FA5BD"/>
                </a:solidFill>
              </a:defRPr>
            </a:pPr>
            <a:r>
              <a:rPr sz="1125" b="0">
                <a:solidFill>
                  <a:srgbClr val="8FA5BD"/>
                </a:solidFill>
              </a:rPr>
              <a:t>陈晗 · 中国地质大学（北京） · 人工智能学院 · 软件工程</a:t>
            </a:r>
          </a:p>
        </p:txBody>
      </p:sp>
    </p:spTree>
    <p:extLst>
      <p:ext uri="{BB962C8B-B14F-4D97-AF65-F5344CB8AC3E}">
        <p14:creationId xmlns:p14="http://schemas.microsoft.com/office/powerpoint/2010/main" val="1814971876"/>
      </p:ext>
    </p:extLst>
  </p:cSld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2026-08-02T12:30:33.3230000Z</dcterms:created>
  <dcterms:modified xsi:type="dcterms:W3CDTF">2026-08-02T12:30:33.3230000Z</dcterms:modified>
</coreProperties>
</file>